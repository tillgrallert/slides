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6858000" type="screen4x3"/>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33"/>
    <p:restoredTop autoAdjust="0" sz="94711"/>
  </p:normalViewPr>
  <p:slideViewPr>
    <p:cSldViewPr snapToGrid="0" snapToObjects="1">
      <p:cViewPr varScale="1">
        <p:scale>
          <a:sx d="100" n="84"/>
          <a:sy d="100" n="84"/>
        </p:scale>
        <p:origin x="1278" y="60"/>
      </p:cViewPr>
      <p:guideLst>
        <p:guide orient="horz" pos="216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notesMaster" Target="notesMasters/notesMaster1.xml" /><Relationship Id="rId39" Type="http://schemas.openxmlformats.org/officeDocument/2006/relationships/viewProps" Target="viewProps.xml" /><Relationship Id="rId38" Type="http://schemas.openxmlformats.org/officeDocument/2006/relationships/presProps" Target="presProps.xml" /><Relationship Id="rId1" Type="http://schemas.openxmlformats.org/officeDocument/2006/relationships/slideMaster" Target="slideMasters/slideMaster1.xml" /><Relationship Id="rId41" Type="http://schemas.openxmlformats.org/officeDocument/2006/relationships/tableStyles" Target="tableStyles.xml" /><Relationship Id="rId4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4/5/2019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“epoch of computationality” orginates with Berry</a:t>
            </a:r>
          </a:p>
          <a:p>
            <a:pPr lvl="0" indent="0" marL="0">
              <a:buNone/>
            </a:pPr>
          </a:p>
          <a:p>
            <a:pPr lvl="0"/>
            <a:r>
              <a:rPr/>
              <a:t>Unsere Interaktion mit der Welt ist immer schon durch ICTs vermittelt</a:t>
            </a:r>
          </a:p>
          <a:p>
            <a:pPr lvl="0" indent="0" marL="0">
              <a:buNone/>
            </a:pPr>
          </a:p>
          <a:p>
            <a:pPr lvl="0"/>
            <a:r>
              <a:rPr/>
              <a:t>Digital history, then, accepts that the human cultural record is being </a:t>
            </a:r>
            <a:r>
              <a:rPr i="1"/>
              <a:t>datafied</a:t>
            </a:r>
            <a:r>
              <a:rPr/>
              <a:t> and we need computational methods in order to make historical arguments (cf. Arguing with Digital History working group 2017, 2; Lässig 2021, 6)</a:t>
            </a:r>
          </a:p>
          <a:p>
            <a:pPr lvl="0" indent="0" marL="0">
              <a:buNone/>
            </a:pPr>
          </a:p>
          <a:p>
            <a:pPr lvl="0"/>
            <a:r>
              <a:rPr/>
              <a:t>Digital history also addresses the age of abundance, as postulated by Roy Rosenzweig, and epitomised by the recent advances in generative AI and LLMs, which will create an infinite amount of absolutely plausible and convincing yet utterly false sources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broad:</a:t>
            </a:r>
          </a:p>
          <a:p>
            <a:pPr lvl="0" indent="0" marL="0">
              <a:buNone/>
            </a:pPr>
          </a:p>
          <a:p>
            <a:pPr lvl="1"/>
            <a:r>
              <a:rPr/>
              <a:t>(research) data cannot, anymore, be perceived as an appendix / addendum to the “actual” research process</a:t>
            </a:r>
          </a:p>
          <a:p>
            <a:pPr lvl="0" indent="0" marL="0">
              <a:buNone/>
            </a:pPr>
          </a:p>
          <a:p>
            <a:pPr lvl="0"/>
            <a:r>
              <a:rPr/>
              <a:t>narrow</a:t>
            </a:r>
          </a:p>
          <a:p>
            <a:pPr lvl="0" indent="0" marL="0">
              <a:buNone/>
            </a:pPr>
          </a:p>
          <a:p>
            <a:pPr lvl="1"/>
            <a:r>
              <a:rPr/>
              <a:t>orientation: guidelines, best practices, white papers</a:t>
            </a:r>
          </a:p>
          <a:p>
            <a:pPr lvl="0" indent="0" marL="0">
              <a:buNone/>
            </a:pPr>
          </a:p>
          <a:p>
            <a:pPr lvl="2"/>
            <a:r>
              <a:rPr/>
              <a:t>through and by example</a:t>
            </a:r>
          </a:p>
          <a:p>
            <a:pPr lvl="0" indent="0" marL="0">
              <a:buNone/>
            </a:pPr>
          </a:p>
          <a:p>
            <a:pPr lvl="1"/>
            <a:r>
              <a:rPr/>
              <a:t>training: across the board</a:t>
            </a:r>
          </a:p>
          <a:p>
            <a:pPr lvl="0" indent="0" marL="0">
              <a:buNone/>
            </a:pPr>
          </a:p>
          <a:p>
            <a:pPr lvl="1"/>
            <a:r>
              <a:rPr/>
              <a:t>support: technical, ethical, judicial</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Data literacy as part of data culture</a:t>
            </a:r>
          </a:p>
          <a:p>
            <a:pPr lvl="0" indent="0" marL="0">
              <a:buNone/>
            </a:pPr>
          </a:p>
          <a:p>
            <a:pPr lvl="0"/>
            <a:r>
              <a:rPr/>
              <a:t>data are always a concrete embodyment and a socio-technological stack: serialisation</a:t>
            </a:r>
          </a:p>
          <a:p>
            <a:pPr lvl="0" indent="0" marL="0">
              <a:buNone/>
            </a:pPr>
          </a:p>
          <a:p>
            <a:pPr lvl="0"/>
            <a:r>
              <a:rPr/>
              <a:t>If we subscribe to social constructivism then all models are historically situated</a:t>
            </a:r>
          </a:p>
          <a:p>
            <a:pPr lvl="0" indent="0" marL="0">
              <a:buNone/>
            </a:pPr>
          </a:p>
          <a:p>
            <a:pPr lvl="1"/>
            <a:r>
              <a:rPr/>
              <a:t>Data and models are situated in historical processes of knowledge production</a:t>
            </a:r>
          </a:p>
          <a:p>
            <a:pPr lvl="0" indent="0" marL="0">
              <a:buNone/>
            </a:pPr>
          </a:p>
          <a:p>
            <a:pPr lvl="0"/>
            <a:r>
              <a:rPr/>
              <a:t>Models have three characteristics (Stachowiak 1973)</a:t>
            </a:r>
          </a:p>
          <a:p>
            <a:pPr lvl="0" indent="0" marL="0">
              <a:buNone/>
            </a:pPr>
          </a:p>
          <a:p>
            <a:pPr lvl="1"/>
            <a:r>
              <a:rPr/>
              <a:t>Mapping/ replacing: model for something</a:t>
            </a:r>
          </a:p>
          <a:p>
            <a:pPr lvl="0" indent="0" marL="0">
              <a:buNone/>
            </a:pPr>
          </a:p>
          <a:p>
            <a:pPr lvl="1"/>
            <a:r>
              <a:rPr/>
              <a:t>Reduction: abstracts aspects of interest</a:t>
            </a:r>
          </a:p>
          <a:p>
            <a:pPr lvl="0" indent="0" marL="0">
              <a:buNone/>
            </a:pPr>
          </a:p>
          <a:p>
            <a:pPr lvl="1"/>
            <a:r>
              <a:rPr/>
              <a:t>Purpose: models have a purpose for something</a:t>
            </a:r>
          </a:p>
          <a:p>
            <a:pPr lvl="0" indent="0" marL="0">
              <a:buNone/>
            </a:pPr>
          </a:p>
          <a:p>
            <a:pPr lvl="0"/>
            <a:r>
              <a:rPr/>
              <a:t>drucker: capta</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NFDI4Memory</a:t>
            </a:r>
          </a:p>
          <a:p>
            <a:pPr lvl="0" indent="0" marL="0">
              <a:buNone/>
            </a:pPr>
          </a:p>
          <a:p>
            <a:pPr lvl="1"/>
            <a:r>
              <a:rPr/>
              <a:t>since 2023</a:t>
            </a:r>
          </a:p>
          <a:p>
            <a:pPr lvl="0" indent="0" marL="0">
              <a:buNone/>
            </a:pPr>
          </a:p>
          <a:p>
            <a:pPr lvl="1"/>
            <a:r>
              <a:rPr/>
              <a:t>one of 26 consortia, one of four consortia in the humanities and social sciences</a:t>
            </a:r>
          </a:p>
          <a:p>
            <a:pPr lvl="0" indent="0" marL="0">
              <a:buNone/>
            </a:pPr>
          </a:p>
          <a:p>
            <a:pPr lvl="1"/>
            <a:r>
              <a:rPr/>
              <a:t>at HU: task area “data culture”, together with VHD</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Chair of Digital History:</a:t>
            </a:r>
          </a:p>
          <a:p>
            <a:pPr lvl="0" indent="0" marL="0">
              <a:buNone/>
            </a:pPr>
          </a:p>
          <a:p>
            <a:pPr lvl="1"/>
            <a:r>
              <a:rPr/>
              <a:t>Torsten Hiltmann, since 2020</a:t>
            </a:r>
          </a:p>
          <a:p>
            <a:pPr lvl="0" indent="0" marL="0">
              <a:buNone/>
            </a:pPr>
          </a:p>
          <a:p>
            <a:pPr lvl="1"/>
            <a:r>
              <a:rPr/>
              <a:t>Since 2018: MA specialisation programme </a:t>
            </a:r>
            <a:r>
              <a:rPr i="1"/>
              <a:t>Digital History</a:t>
            </a:r>
            <a:r>
              <a:rPr/>
              <a:t> as part of the MA in History</a:t>
            </a:r>
          </a:p>
          <a:p>
            <a:pPr lvl="0" indent="0" marL="0">
              <a:buNone/>
            </a:pPr>
          </a:p>
          <a:p>
            <a:pPr lvl="2" indent="-457200" marL="1371600">
              <a:buAutoNum type="arabicPeriod"/>
            </a:pPr>
            <a:r>
              <a:rPr/>
              <a:t>Algorithmic thinking,</a:t>
            </a:r>
          </a:p>
          <a:p>
            <a:pPr lvl="0" indent="0" marL="0">
              <a:buNone/>
            </a:pPr>
          </a:p>
          <a:p>
            <a:pPr lvl="2" indent="-457200" marL="1371600">
              <a:buAutoNum type="arabicPeriod"/>
            </a:pPr>
            <a:r>
              <a:rPr/>
              <a:t>methodological competence through</a:t>
            </a:r>
          </a:p>
          <a:p>
            <a:pPr lvl="0" indent="0" marL="0">
              <a:buNone/>
            </a:pPr>
          </a:p>
          <a:p>
            <a:pPr lvl="2" indent="-457200" marL="1371600">
              <a:buAutoNum type="arabicPeriod"/>
            </a:pPr>
            <a:r>
              <a:rPr/>
              <a:t>theoretical foundations, and</a:t>
            </a:r>
          </a:p>
          <a:p>
            <a:pPr lvl="0" indent="0" marL="0">
              <a:buNone/>
            </a:pPr>
          </a:p>
          <a:p>
            <a:pPr lvl="2" indent="-457200" marL="1371600">
              <a:buAutoNum type="arabicPeriod"/>
            </a:pPr>
            <a:r>
              <a:rPr/>
              <a:t>critical reflection in a historical context</a:t>
            </a:r>
          </a:p>
          <a:p>
            <a:pPr lvl="0" indent="0" marL="0">
              <a:buNone/>
            </a:pPr>
          </a:p>
          <a:p>
            <a:pPr lvl="0"/>
            <a:r>
              <a:rPr/>
              <a:t>HSozKult</a:t>
            </a:r>
          </a:p>
          <a:p>
            <a:pPr lvl="0" indent="0" marL="0">
              <a:buNone/>
            </a:pPr>
          </a:p>
          <a:p>
            <a:pPr lvl="1"/>
            <a:r>
              <a:rPr/>
              <a:t>since 1996 at the IfG</a:t>
            </a:r>
          </a:p>
          <a:p>
            <a:pPr lvl="0" indent="0" marL="0">
              <a:buNone/>
            </a:pPr>
          </a:p>
          <a:p>
            <a:pPr lvl="1"/>
            <a:r>
              <a:rPr/>
              <a:t>information and communications platform</a:t>
            </a:r>
          </a:p>
          <a:p>
            <a:pPr lvl="0" indent="0" marL="0">
              <a:buNone/>
            </a:pPr>
          </a:p>
          <a:p>
            <a:pPr lvl="1"/>
            <a:r>
              <a:rPr/>
              <a:t>announcements, reviews</a:t>
            </a:r>
          </a:p>
          <a:p>
            <a:pPr lvl="0" indent="0" marL="0">
              <a:buNone/>
            </a:pPr>
          </a:p>
          <a:p>
            <a:pPr lvl="0"/>
            <a:r>
              <a:rPr/>
              <a:t>IZ</a:t>
            </a:r>
          </a:p>
          <a:p>
            <a:pPr lvl="0" indent="0" marL="0">
              <a:buNone/>
            </a:pPr>
          </a:p>
          <a:p>
            <a:pPr lvl="1"/>
            <a:r>
              <a:rPr/>
              <a:t>since 2024</a:t>
            </a:r>
          </a:p>
          <a:p>
            <a:pPr lvl="0" indent="0" marL="0">
              <a:buNone/>
            </a:pPr>
          </a:p>
          <a:p>
            <a:pPr lvl="1"/>
            <a:r>
              <a:rPr/>
              <a:t>collaboration of all DH initiatives at HU in order to increase visibility and collaboration</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historical background</a:t>
            </a:r>
          </a:p>
          <a:p>
            <a:pPr lvl="0" indent="0" marL="0">
              <a:buNone/>
            </a:pPr>
          </a:p>
          <a:p>
            <a:pPr lvl="1"/>
            <a:r>
              <a:rPr/>
              <a:t>1923: Hitlerputsch of 9. November in Munich, Bürgerbräukeller. Consequences: prison sentence, writing “mein Kampf”</a:t>
            </a:r>
          </a:p>
          <a:p>
            <a:pPr lvl="0" indent="0" marL="0">
              <a:buNone/>
            </a:pPr>
          </a:p>
          <a:p>
            <a:pPr lvl="1"/>
            <a:r>
              <a:rPr/>
              <a:t>book was published immediately after the coup with 70.000 copies. read as handbook to the court proceedings</a:t>
            </a:r>
          </a:p>
          <a:p>
            <a:pPr lvl="0" indent="0" marL="0">
              <a:buNone/>
            </a:pPr>
          </a:p>
          <a:p>
            <a:pPr lvl="0"/>
            <a:r>
              <a:rPr/>
              <a:t>public controversy in the 2010s</a:t>
            </a:r>
          </a:p>
          <a:p>
            <a:pPr lvl="0" indent="0" marL="0">
              <a:buNone/>
            </a:pPr>
          </a:p>
          <a:p>
            <a:pPr lvl="1"/>
            <a:r>
              <a:rPr/>
              <a:t>Thomas Weber (Aberdeen)</a:t>
            </a:r>
          </a:p>
          <a:p>
            <a:pPr lvl="0" indent="0" marL="0">
              <a:buNone/>
            </a:pPr>
          </a:p>
          <a:p>
            <a:pPr lvl="2"/>
            <a:r>
              <a:rPr/>
              <a:t>“found” “new” documentes in South Africa, in which Koebers admits to Hitler’s authorship</a:t>
            </a:r>
          </a:p>
          <a:p>
            <a:pPr lvl="0" indent="0" marL="0">
              <a:buNone/>
            </a:pPr>
          </a:p>
          <a:p>
            <a:pPr lvl="2"/>
            <a:r>
              <a:rPr/>
              <a:t>The hypothesis garners much attention and is reported as a fact</a:t>
            </a:r>
          </a:p>
          <a:p>
            <a:pPr lvl="0" indent="0" marL="0">
              <a:buNone/>
            </a:pPr>
          </a:p>
          <a:p>
            <a:pPr lvl="1"/>
            <a:r>
              <a:rPr/>
              <a:t>Othmar Plöckinger (Hg. der kritischen Edition von “Mein Kampf”): doubtful</a:t>
            </a:r>
          </a:p>
          <a:p>
            <a:pPr lvl="0" indent="0" marL="0">
              <a:buNone/>
            </a:pPr>
          </a:p>
          <a:p>
            <a:pPr lvl="1"/>
            <a:r>
              <a:rPr/>
              <a:t>Winfried Meyer (Berlin)</a:t>
            </a:r>
          </a:p>
          <a:p>
            <a:pPr lvl="0" indent="0" marL="0">
              <a:buNone/>
            </a:pPr>
          </a:p>
          <a:p>
            <a:pPr lvl="2"/>
            <a:r>
              <a:rPr/>
              <a:t>provides a source critique of Weber’s hermeneutic (and source critique)</a:t>
            </a:r>
          </a:p>
          <a:p>
            <a:pPr lvl="0" indent="0" marL="0">
              <a:buNone/>
            </a:pPr>
          </a:p>
          <a:p>
            <a:pPr lvl="3"/>
            <a:r>
              <a:rPr/>
              <a:t>extremely eccelctic choice of sources</a:t>
            </a:r>
          </a:p>
          <a:p>
            <a:pPr lvl="0" indent="0" marL="0">
              <a:buNone/>
            </a:pPr>
          </a:p>
          <a:p>
            <a:pPr lvl="3"/>
            <a:r>
              <a:rPr/>
              <a:t>a qualitative stilistic analysis indicates a high degree of similarity with Koebers’s writing</a:t>
            </a:r>
          </a:p>
          <a:p>
            <a:pPr lvl="0" indent="0" marL="0">
              <a:buNone/>
            </a:pPr>
          </a:p>
          <a:p>
            <a:pPr lvl="2"/>
            <a:r>
              <a:rPr/>
              <a:t>argues that Koebers ennunciations post 1945 must be read as an attempt at distancing himself from his Nazi past</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infrastructures are always socio-technical</a:t>
            </a:r>
          </a:p>
          <a:p>
            <a:pPr lvl="0" indent="0" marL="0">
              <a:buNone/>
            </a:pPr>
          </a:p>
          <a:p>
            <a:pPr lvl="1"/>
            <a:r>
              <a:rPr/>
              <a:t>requirements</a:t>
            </a:r>
          </a:p>
          <a:p>
            <a:pPr lvl="0" indent="0" marL="0">
              <a:buNone/>
            </a:pPr>
          </a:p>
          <a:p>
            <a:pPr lvl="2"/>
            <a:r>
              <a:rPr/>
              <a:t>knowledge</a:t>
            </a:r>
          </a:p>
          <a:p>
            <a:pPr lvl="0" indent="0" marL="0">
              <a:buNone/>
            </a:pPr>
          </a:p>
          <a:p>
            <a:pPr lvl="2"/>
            <a:r>
              <a:rPr/>
              <a:t>skills</a:t>
            </a:r>
          </a:p>
          <a:p>
            <a:pPr lvl="0" indent="0" marL="0">
              <a:buNone/>
            </a:pPr>
          </a:p>
          <a:p>
            <a:pPr lvl="2"/>
            <a:r>
              <a:rPr/>
              <a:t>access to hard- and software</a:t>
            </a:r>
          </a:p>
          <a:p>
            <a:pPr lvl="0" indent="0" marL="0">
              <a:buNone/>
            </a:pPr>
          </a:p>
          <a:p>
            <a:pPr lvl="2"/>
            <a:r>
              <a:rPr/>
              <a:t>licences</a:t>
            </a:r>
          </a:p>
          <a:p>
            <a:pPr lvl="0" indent="0" marL="0">
              <a:buNone/>
            </a:pPr>
          </a:p>
          <a:p>
            <a:pPr lvl="2"/>
            <a:r>
              <a:rPr/>
              <a:t>data formats etc.</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comparative method</a:t>
            </a:r>
          </a:p>
          <a:p>
            <a:pPr lvl="0" indent="0" marL="0">
              <a:buNone/>
            </a:pPr>
          </a:p>
          <a:p>
            <a:pPr lvl="1"/>
            <a:r>
              <a:rPr/>
              <a:t>most frequent features (MFF) as reliable indicator of authorship</a:t>
            </a:r>
          </a:p>
          <a:p>
            <a:pPr lvl="0" indent="0" marL="0">
              <a:buNone/>
            </a:pPr>
          </a:p>
          <a:p>
            <a:pPr lvl="1"/>
            <a:r>
              <a:rPr/>
              <a:t>sharp decline in reliability below a mininmal text length (&gt;2500 tokens)</a:t>
            </a:r>
          </a:p>
          <a:p>
            <a:pPr lvl="0" indent="0" marL="0">
              <a:buNone/>
            </a:pPr>
          </a:p>
          <a:p>
            <a:pPr lvl="2"/>
            <a:r>
              <a:rPr/>
              <a:t>text in question is 3461 tokens long</a:t>
            </a:r>
          </a:p>
          <a:p>
            <a:pPr lvl="0" indent="0" marL="0">
              <a:buNone/>
            </a:pPr>
          </a:p>
          <a:p>
            <a:pPr lvl="0"/>
            <a:r>
              <a:rPr/>
              <a:t>corpus building: requires detailed historical domain knowlege</a:t>
            </a:r>
          </a:p>
          <a:p>
            <a:pPr lvl="0" indent="0" marL="0">
              <a:buNone/>
            </a:pPr>
          </a:p>
          <a:p>
            <a:pPr lvl="1"/>
            <a:r>
              <a:rPr/>
              <a:t>Hitler:</a:t>
            </a:r>
          </a:p>
          <a:p>
            <a:pPr lvl="0" indent="0" marL="0">
              <a:buNone/>
            </a:pPr>
          </a:p>
          <a:p>
            <a:pPr lvl="2"/>
            <a:r>
              <a:rPr/>
              <a:t>42 essays and 3 Denkschriften</a:t>
            </a:r>
          </a:p>
          <a:p>
            <a:pPr lvl="0" indent="0" marL="0">
              <a:buNone/>
            </a:pPr>
          </a:p>
          <a:p>
            <a:pPr lvl="2" indent="-457200" marL="1371600">
              <a:buAutoNum startAt="3" type="alphaLcPeriod"/>
            </a:pPr>
            <a:r>
              <a:rPr/>
              <a:t>55000 Tokens</a:t>
            </a:r>
          </a:p>
          <a:p>
            <a:pPr lvl="0" indent="0" marL="0">
              <a:buNone/>
            </a:pPr>
          </a:p>
          <a:p>
            <a:pPr lvl="1"/>
            <a:r>
              <a:rPr/>
              <a:t>Koerber:</a:t>
            </a:r>
          </a:p>
          <a:p>
            <a:pPr lvl="0" indent="0" marL="0">
              <a:buNone/>
            </a:pPr>
          </a:p>
          <a:p>
            <a:pPr lvl="2"/>
            <a:r>
              <a:rPr/>
              <a:t>5 texts from 1917–24</a:t>
            </a:r>
          </a:p>
          <a:p>
            <a:pPr lvl="0" indent="0" marL="0">
              <a:buNone/>
            </a:pPr>
          </a:p>
          <a:p>
            <a:pPr lvl="2"/>
            <a:r>
              <a:rPr/>
              <a:t>c.96000 Tokens</a:t>
            </a:r>
          </a:p>
          <a:p>
            <a:pPr lvl="0" indent="0" marL="0">
              <a:buNone/>
            </a:pPr>
          </a:p>
          <a:p>
            <a:pPr lvl="1"/>
            <a:r>
              <a:rPr/>
              <a:t>Rosenberg</a:t>
            </a:r>
          </a:p>
          <a:p>
            <a:pPr lvl="0" indent="0" marL="0">
              <a:buNone/>
            </a:pPr>
          </a:p>
          <a:p>
            <a:pPr lvl="2"/>
            <a:r>
              <a:rPr/>
              <a:t>4 texts, 1920–24</a:t>
            </a:r>
          </a:p>
          <a:p>
            <a:pPr lvl="0" indent="0" marL="0">
              <a:buNone/>
            </a:pPr>
          </a:p>
          <a:p>
            <a:pPr lvl="2" indent="-457200" marL="1371600">
              <a:buAutoNum startAt="3" type="alphaLcPeriod"/>
            </a:pPr>
            <a:r>
              <a:rPr/>
              <a:t>127000 Tokens</a:t>
            </a:r>
          </a:p>
          <a:p>
            <a:pPr lvl="0" indent="0" marL="0">
              <a:buNone/>
            </a:pPr>
          </a:p>
          <a:p>
            <a:pPr lvl="0"/>
            <a:r>
              <a:rPr/>
              <a:t>pre-processing to turn the corpus into a data set:</a:t>
            </a:r>
          </a:p>
          <a:p>
            <a:pPr lvl="0" indent="0" marL="0">
              <a:buNone/>
            </a:pPr>
          </a:p>
          <a:p>
            <a:pPr lvl="1"/>
            <a:r>
              <a:rPr/>
              <a:t>OCR,</a:t>
            </a:r>
          </a:p>
          <a:p>
            <a:pPr lvl="0" indent="0" marL="0">
              <a:buNone/>
            </a:pPr>
          </a:p>
          <a:p>
            <a:pPr lvl="1"/>
            <a:r>
              <a:rPr/>
              <a:t>orthographic normalisation,</a:t>
            </a:r>
          </a:p>
          <a:p>
            <a:pPr lvl="0" indent="0" marL="0">
              <a:buNone/>
            </a:pPr>
          </a:p>
          <a:p>
            <a:pPr lvl="1"/>
            <a:r>
              <a:rPr/>
              <a:t>removing pronomina</a:t>
            </a:r>
          </a:p>
          <a:p>
            <a:pPr lvl="0" indent="0" marL="0">
              <a:buNone/>
            </a:pPr>
          </a:p>
          <a:p>
            <a:pPr lvl="1"/>
            <a:r>
              <a:rPr/>
              <a:t>sampling</a:t>
            </a:r>
          </a:p>
          <a:p>
            <a:pPr lvl="0" indent="0" marL="0">
              <a:buNone/>
            </a:pPr>
          </a:p>
          <a:p>
            <a:pPr lvl="0"/>
            <a:r>
              <a:rPr/>
              <a:t>feature extraction: which kind of MFF? Characters, words, n-grams?</a:t>
            </a:r>
          </a:p>
          <a:p>
            <a:pPr lvl="0" indent="0" marL="0">
              <a:buNone/>
            </a:pPr>
          </a:p>
          <a:p>
            <a:pPr lvl="0"/>
            <a:r>
              <a:rPr/>
              <a:t>feature count:</a:t>
            </a:r>
          </a:p>
          <a:p>
            <a:pPr lvl="0" indent="0" marL="0">
              <a:buNone/>
            </a:pPr>
          </a:p>
          <a:p>
            <a:pPr lvl="1"/>
            <a:r>
              <a:rPr/>
              <a:t>how many MFF?</a:t>
            </a:r>
          </a:p>
          <a:p>
            <a:pPr lvl="0" indent="0" marL="0">
              <a:buNone/>
            </a:pPr>
          </a:p>
          <a:p>
            <a:pPr lvl="1"/>
            <a:r>
              <a:rPr/>
              <a:t>iteration?</a:t>
            </a:r>
          </a:p>
          <a:p>
            <a:pPr lvl="0" indent="0" marL="0">
              <a:buNone/>
            </a:pPr>
          </a:p>
          <a:p>
            <a:pPr lvl="0"/>
            <a:r>
              <a:rPr/>
              <a:t>statistical analysis:</a:t>
            </a:r>
          </a:p>
          <a:p>
            <a:pPr lvl="0" indent="0" marL="0">
              <a:buNone/>
            </a:pPr>
          </a:p>
          <a:p>
            <a:pPr lvl="1"/>
            <a:r>
              <a:rPr/>
              <a:t>which distance measure?</a:t>
            </a:r>
          </a:p>
          <a:p>
            <a:pPr lvl="0" indent="0" marL="0">
              <a:buNone/>
            </a:pPr>
          </a:p>
          <a:p>
            <a:pPr lvl="1"/>
            <a:r>
              <a:rPr/>
              <a:t>cluster analysis, PCA?</a:t>
            </a:r>
          </a:p>
          <a:p>
            <a:pPr lvl="0" indent="0" marL="0">
              <a:buNone/>
            </a:pPr>
          </a:p>
          <a:p>
            <a:pPr lvl="0"/>
            <a:r>
              <a:rPr/>
              <a:t>presentation and visualisation:</a:t>
            </a:r>
          </a:p>
          <a:p>
            <a:pPr lvl="0" indent="0" marL="0">
              <a:buNone/>
            </a:pPr>
          </a:p>
          <a:p>
            <a:pPr lvl="1"/>
            <a:r>
              <a:rPr/>
              <a:t>dendrogramm</a:t>
            </a:r>
          </a:p>
          <a:p>
            <a:pPr lvl="0" indent="0" marL="0">
              <a:buNone/>
            </a:pPr>
          </a:p>
          <a:p>
            <a:pPr lvl="1"/>
            <a:r>
              <a:rPr/>
              <a:t>bootstrapped consensus network</a:t>
            </a:r>
          </a:p>
          <a:p>
            <a:pPr lvl="0" indent="0" marL="0">
              <a:buNone/>
            </a:pPr>
          </a:p>
          <a:p>
            <a:pPr lvl="1"/>
            <a:r>
              <a:rPr/>
              <a:t>scatterplot</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ethical dimensions:</a:t>
            </a:r>
          </a:p>
          <a:p>
            <a:pPr lvl="0" indent="0" marL="0">
              <a:buNone/>
            </a:pPr>
          </a:p>
          <a:p>
            <a:pPr lvl="1"/>
            <a:r>
              <a:rPr/>
              <a:t>stilometry works on a bag of words. Sequence of tokens is irrelevant.</a:t>
            </a:r>
          </a:p>
          <a:p>
            <a:pPr lvl="0" indent="0" marL="0">
              <a:buNone/>
            </a:pPr>
          </a:p>
          <a:p>
            <a:pPr lvl="1"/>
            <a:r>
              <a:rPr/>
              <a:t>we can, therefore, publish a derivate format for replication studies without being able to re-constitute the texts from the derivate format</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epistomoligical and methodological changes</a:t>
            </a:r>
          </a:p>
          <a:p>
            <a:pPr lvl="0" indent="0" marL="0">
              <a:buNone/>
            </a:pPr>
          </a:p>
          <a:p>
            <a:pPr lvl="1"/>
            <a:r>
              <a:rPr/>
              <a:t>added value from datafication: increasing our options through a changing perspective on the information to be extracted from sources</a:t>
            </a:r>
          </a:p>
          <a:p>
            <a:pPr lvl="0" indent="0" marL="0">
              <a:buNone/>
            </a:pPr>
          </a:p>
          <a:p>
            <a:pPr lvl="1"/>
            <a:r>
              <a:rPr/>
              <a:t>expanding hermeneutics through datafied approaches (as hermeneutical instruments)</a:t>
            </a:r>
          </a:p>
          <a:p>
            <a:pPr lvl="0" indent="0" marL="0">
              <a:buNone/>
            </a:pPr>
          </a:p>
          <a:p>
            <a:pPr lvl="1"/>
            <a:r>
              <a:rPr/>
              <a:t>algorithmicity: chances and challenges of explorative scaling as an approach to research questions</a:t>
            </a:r>
          </a:p>
          <a:p>
            <a:pPr lvl="0" indent="0" marL="0">
              <a:buNone/>
            </a:pPr>
          </a:p>
          <a:p>
            <a:pPr lvl="1"/>
            <a:r>
              <a:rPr/>
              <a:t>grounded with the processes of knowledge producation and narration within academic history</a:t>
            </a:r>
          </a:p>
          <a:p>
            <a:pPr lvl="0" indent="0" marL="0">
              <a:buNone/>
            </a:pPr>
          </a:p>
          <a:p>
            <a:pPr lvl="1"/>
            <a:r>
              <a:rPr/>
              <a:t>expanding source criticism into computational source criticism?</a:t>
            </a:r>
          </a:p>
          <a:p>
            <a:pPr lvl="0" indent="0" marL="0">
              <a:buNone/>
            </a:pPr>
          </a:p>
          <a:p>
            <a:pPr lvl="0"/>
            <a:r>
              <a:rPr/>
              <a:t>changing knowledge orders</a:t>
            </a:r>
          </a:p>
          <a:p>
            <a:pPr lvl="0" indent="0" marL="0">
              <a:buNone/>
            </a:pPr>
          </a:p>
          <a:p>
            <a:pPr lvl="1"/>
            <a:r>
              <a:rPr/>
              <a:t>knowledge as being formalised and embodied in algorithms, models, and corpora</a:t>
            </a:r>
          </a:p>
          <a:p>
            <a:pPr lvl="0" indent="0" marL="0">
              <a:buNone/>
            </a:pPr>
          </a:p>
          <a:p>
            <a:pPr lvl="1"/>
            <a:r>
              <a:rPr/>
              <a:t>changing forms of traceability and transparency, potential for replication</a:t>
            </a:r>
          </a:p>
          <a:p>
            <a:pPr lvl="0" indent="0" marL="0">
              <a:buNone/>
            </a:pPr>
          </a:p>
          <a:p>
            <a:pPr lvl="0"/>
            <a:r>
              <a:rPr/>
              <a:t>new skills, formats of output, and genuine research</a:t>
            </a:r>
          </a:p>
          <a:p>
            <a:pPr lvl="0" indent="0" marL="0">
              <a:buNone/>
            </a:pPr>
          </a:p>
          <a:p>
            <a:pPr lvl="1"/>
            <a:r>
              <a:rPr/>
              <a:t>changing courses of study and qualification</a:t>
            </a:r>
          </a:p>
          <a:p>
            <a:pPr lvl="0" indent="0" marL="0">
              <a:buNone/>
            </a:pPr>
          </a:p>
          <a:p>
            <a:pPr lvl="1"/>
            <a:r>
              <a:rPr/>
              <a:t>changing indicators of reputation</a:t>
            </a:r>
          </a:p>
          <a:p>
            <a:pPr lvl="0" indent="0" marL="0">
              <a:buNone/>
            </a:pPr>
          </a:p>
          <a:p>
            <a:pPr lvl="1"/>
            <a:r>
              <a:rPr/>
              <a:t>changing hiring processes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41EB5C9-1307-BA42-ABA2-0BC069CD8E7F}"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41EB5C9-1307-BA42-ABA2-0BC069CD8E7F}" type="datetimeFigureOut">
              <a:rPr lang="en-US" smtClean="0"/>
              <a:t>4/5/2019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41EB5C9-1307-BA42-ABA2-0BC069CD8E7F}" type="datetimeFigureOut">
              <a:rPr lang="en-US" smtClean="0"/>
              <a:t>4/5/2019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4/5/2019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anchor="ctr" bIns="45720" lIns="91440" rIns="91440" rtlCol="0" tIns="45720" vert="horz">
            <a:normAutofit/>
          </a:bodyPr>
          <a:lstStyle/>
          <a:p>
            <a:r>
              <a:rPr lang="en-US" smtClean="0"/>
              <a:t>Click to edit Master title style</a:t>
            </a:r>
            <a:endParaRPr lang="en-US"/>
          </a:p>
        </p:txBody>
      </p:sp>
      <p:sp>
        <p:nvSpPr>
          <p:cNvPr id="3" name="Text Placeholder 2"/>
          <p:cNvSpPr>
            <a:spLocks noGrp="1"/>
          </p:cNvSpPr>
          <p:nvPr>
            <p:ph idx="1" type="body"/>
          </p:nvPr>
        </p:nvSpPr>
        <p:spPr>
          <a:xfrm>
            <a:off x="457200" y="1600200"/>
            <a:ext cx="8229600" cy="4525963"/>
          </a:xfrm>
          <a:prstGeom prst="rect">
            <a:avLst/>
          </a:prstGeom>
        </p:spPr>
        <p:txBody>
          <a:bodyPr bIns="45720" lIns="91440" rIns="91440" rtlCol="0" tIns="45720" vert="horz">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2" sz="half" type="dt"/>
          </p:nvPr>
        </p:nvSpPr>
        <p:spPr>
          <a:xfrm>
            <a:off x="457200" y="6356350"/>
            <a:ext cx="2133600" cy="365125"/>
          </a:xfrm>
          <a:prstGeom prst="rect">
            <a:avLst/>
          </a:prstGeom>
        </p:spPr>
        <p:txBody>
          <a:bodyPr anchor="ctr" bIns="45720" lIns="91440" rIns="91440" rtlCol="0" tIns="45720" vert="horz"/>
          <a:lstStyle>
            <a:lvl1pPr algn="l">
              <a:defRPr sz="1200">
                <a:solidFill>
                  <a:schemeClr val="tx1">
                    <a:tint val="75000"/>
                  </a:schemeClr>
                </a:solidFill>
              </a:defRPr>
            </a:lvl1pPr>
          </a:lstStyle>
          <a:p>
            <a:fld id="{241EB5C9-1307-BA42-ABA2-0BC069CD8E7F}" type="datetimeFigureOut">
              <a:rPr lang="en-US" smtClean="0"/>
              <a:t>4/5/2019</a:t>
            </a:fld>
            <a:endParaRPr lang="en-US"/>
          </a:p>
        </p:txBody>
      </p:sp>
      <p:sp>
        <p:nvSpPr>
          <p:cNvPr id="5" name="Footer Placeholder 4"/>
          <p:cNvSpPr>
            <a:spLocks noGrp="1"/>
          </p:cNvSpPr>
          <p:nvPr>
            <p:ph idx="3" sz="quarter" type="ftr"/>
          </p:nvPr>
        </p:nvSpPr>
        <p:spPr>
          <a:xfrm>
            <a:off x="3124200" y="6356350"/>
            <a:ext cx="2895600" cy="365125"/>
          </a:xfrm>
          <a:prstGeom prst="rect">
            <a:avLst/>
          </a:prstGeom>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6356350"/>
            <a:ext cx="21336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eaLnBrk="1" hangingPunct="1" latinLnBrk="0" rtl="0">
        <a:spcBef>
          <a:spcPct val="0"/>
        </a:spcBef>
        <a:buNone/>
        <a:defRPr kern="1200" sz="4400">
          <a:solidFill>
            <a:schemeClr val="tx1"/>
          </a:solidFill>
          <a:latin typeface="+mj-lt"/>
          <a:ea typeface="+mj-ea"/>
          <a:cs typeface="+mj-cs"/>
        </a:defRPr>
      </a:lvl1pPr>
    </p:titleStyle>
    <p:bodyStyle>
      <a:lvl1pPr algn="l" defTabSz="457200" eaLnBrk="1" hangingPunct="1" indent="-342900" latinLnBrk="0" marL="342900" rtl="0">
        <a:spcBef>
          <a:spcPct val="20000"/>
        </a:spcBef>
        <a:buFont typeface="Arial"/>
        <a:buChar char="•"/>
        <a:defRPr kern="1200" sz="3200">
          <a:solidFill>
            <a:schemeClr val="tx1"/>
          </a:solidFill>
          <a:latin typeface="+mn-lt"/>
          <a:ea typeface="+mn-ea"/>
          <a:cs typeface="+mn-cs"/>
        </a:defRPr>
      </a:lvl1pPr>
      <a:lvl2pPr algn="l" defTabSz="457200" eaLnBrk="1" hangingPunct="1" indent="-285750" latinLnBrk="0" marL="742950" rtl="0">
        <a:spcBef>
          <a:spcPct val="20000"/>
        </a:spcBef>
        <a:buFont typeface="Arial"/>
        <a:buChar char="–"/>
        <a:defRPr kern="1200" sz="2800">
          <a:solidFill>
            <a:schemeClr val="tx1"/>
          </a:solidFill>
          <a:latin typeface="+mn-lt"/>
          <a:ea typeface="+mn-ea"/>
          <a:cs typeface="+mn-cs"/>
        </a:defRPr>
      </a:lvl2pPr>
      <a:lvl3pPr algn="l" defTabSz="457200" eaLnBrk="1" hangingPunct="1" indent="-228600" latinLnBrk="0" marL="1143000" rtl="0">
        <a:spcBef>
          <a:spcPct val="20000"/>
        </a:spcBef>
        <a:buFont typeface="Arial"/>
        <a:buChar char="•"/>
        <a:defRPr kern="1200" sz="2400">
          <a:solidFill>
            <a:schemeClr val="tx1"/>
          </a:solidFill>
          <a:latin typeface="+mn-lt"/>
          <a:ea typeface="+mn-ea"/>
          <a:cs typeface="+mn-cs"/>
        </a:defRPr>
      </a:lvl3pPr>
      <a:lvl4pPr algn="l" defTabSz="457200" eaLnBrk="1" hangingPunct="1" indent="-228600" latinLnBrk="0" marL="1600200" rtl="0">
        <a:spcBef>
          <a:spcPct val="20000"/>
        </a:spcBef>
        <a:buFont typeface="Arial"/>
        <a:buChar char="–"/>
        <a:defRPr kern="1200" sz="2000">
          <a:solidFill>
            <a:schemeClr val="tx1"/>
          </a:solidFill>
          <a:latin typeface="+mn-lt"/>
          <a:ea typeface="+mn-ea"/>
          <a:cs typeface="+mn-cs"/>
        </a:defRPr>
      </a:lvl4pPr>
      <a:lvl5pPr algn="l" defTabSz="457200" eaLnBrk="1" hangingPunct="1" indent="-228600" latinLnBrk="0" marL="2057400" rtl="0">
        <a:spcBef>
          <a:spcPct val="20000"/>
        </a:spcBef>
        <a:buFont typeface="Arial"/>
        <a:buChar char="»"/>
        <a:defRPr kern="1200" sz="2000">
          <a:solidFill>
            <a:schemeClr val="tx1"/>
          </a:solidFill>
          <a:latin typeface="+mn-lt"/>
          <a:ea typeface="+mn-ea"/>
          <a:cs typeface="+mn-cs"/>
        </a:defRPr>
      </a:lvl5pPr>
      <a:lvl6pPr algn="l" defTabSz="457200" eaLnBrk="1" hangingPunct="1" indent="-228600" latinLnBrk="0" marL="2514600" rtl="0">
        <a:spcBef>
          <a:spcPct val="20000"/>
        </a:spcBef>
        <a:buFont typeface="Arial"/>
        <a:buChar char="•"/>
        <a:defRPr kern="1200" sz="2000">
          <a:solidFill>
            <a:schemeClr val="tx1"/>
          </a:solidFill>
          <a:latin typeface="+mn-lt"/>
          <a:ea typeface="+mn-ea"/>
          <a:cs typeface="+mn-cs"/>
        </a:defRPr>
      </a:lvl6pPr>
      <a:lvl7pPr algn="l" defTabSz="457200" eaLnBrk="1" hangingPunct="1" indent="-228600" latinLnBrk="0" marL="2971800" rtl="0">
        <a:spcBef>
          <a:spcPct val="20000"/>
        </a:spcBef>
        <a:buFont typeface="Arial"/>
        <a:buChar char="•"/>
        <a:defRPr kern="1200" sz="2000">
          <a:solidFill>
            <a:schemeClr val="tx1"/>
          </a:solidFill>
          <a:latin typeface="+mn-lt"/>
          <a:ea typeface="+mn-ea"/>
          <a:cs typeface="+mn-cs"/>
        </a:defRPr>
      </a:lvl7pPr>
      <a:lvl8pPr algn="l" defTabSz="457200" eaLnBrk="1" hangingPunct="1" indent="-228600" latinLnBrk="0" marL="3429000" rtl="0">
        <a:spcBef>
          <a:spcPct val="20000"/>
        </a:spcBef>
        <a:buFont typeface="Arial"/>
        <a:buChar char="•"/>
        <a:defRPr kern="1200" sz="2000">
          <a:solidFill>
            <a:schemeClr val="tx1"/>
          </a:solidFill>
          <a:latin typeface="+mn-lt"/>
          <a:ea typeface="+mn-ea"/>
          <a:cs typeface="+mn-cs"/>
        </a:defRPr>
      </a:lvl8pPr>
      <a:lvl9pPr algn="l" defTabSz="457200" eaLnBrk="1" hangingPunct="1" indent="-228600" latinLnBrk="0" marL="3886200" rtl="0">
        <a:spcBef>
          <a:spcPct val="20000"/>
        </a:spcBef>
        <a:buFont typeface="Arial"/>
        <a:buChar char="•"/>
        <a:defRPr kern="1200" sz="2000">
          <a:solidFill>
            <a:schemeClr val="tx1"/>
          </a:solidFill>
          <a:latin typeface="+mn-lt"/>
          <a:ea typeface="+mn-ea"/>
          <a:cs typeface="+mn-cs"/>
        </a:defRPr>
      </a:lvl9pPr>
    </p:bodyStyle>
    <p:other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4.xml" /><Relationship Id="rId3" Type="http://schemas.openxmlformats.org/officeDocument/2006/relationships/image" Target="../media/image1.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3.jpg" /></Relationships>
</file>

<file path=ppt/slides/_rels/slide1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xml" /><Relationship Id="rId3" Type="http://schemas.openxmlformats.org/officeDocument/2006/relationships/image" Target="../media/image4.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8.xml" /><Relationship Id="rId3" Type="http://schemas.openxmlformats.org/officeDocument/2006/relationships/image" Target="../media/image5.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0.xml" /><Relationship Id="rId3" Type="http://schemas.openxmlformats.org/officeDocument/2006/relationships/image" Target="../media/image6.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www.4memory.de" TargetMode="Externa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rchnm.org/argument-white-paper/" TargetMode="External" /><Relationship Id="rId3" Type="http://schemas.openxmlformats.org/officeDocument/2006/relationships/hyperlink" Target="https://doi.org/10.4324/9781003106531" TargetMode="External" /><Relationship Id="rId4" Type="http://schemas.openxmlformats.org/officeDocument/2006/relationships/hyperlink" Target="http://archive.org/details/AHSeinLebenSeineReden" TargetMode="External" /><Relationship Id="rId5" Type="http://schemas.openxmlformats.org/officeDocument/2006/relationships/hyperlink" Target="https://doi.org/gkhrjp"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pPr lvl="0" indent="0" marL="0">
              <a:buNone/>
            </a:pPr>
            <a:r>
              <a:rPr/>
              <a:t>Warum wir eine Datenkultur benötigen</a:t>
            </a:r>
          </a:p>
        </p:txBody>
      </p:sp>
      <p:sp>
        <p:nvSpPr>
          <p:cNvPr id="3" name="Subtitle 2"/>
          <p:cNvSpPr>
            <a:spLocks noGrp="1"/>
          </p:cNvSpPr>
          <p:nvPr>
            <p:ph idx="1" type="subTitle"/>
          </p:nvPr>
        </p:nvSpPr>
        <p:spPr>
          <a:xfrm>
            <a:off x="1371600" y="3886200"/>
            <a:ext cx="6400800" cy="1752600"/>
          </a:xfrm>
        </p:spPr>
        <p:txBody>
          <a:bodyPr/>
          <a:lstStyle/>
          <a:p>
            <a:pPr lvl="0" indent="0" marL="0">
              <a:buNone/>
            </a:pPr>
            <a:br/>
            <a:br/>
            <a:r>
              <a:rPr/>
              <a:t>Till Grallert</a:t>
            </a:r>
          </a:p>
        </p:txBody>
      </p:sp>
      <p:sp>
        <p:nvSpPr>
          <p:cNvPr id="4" name="Date Placeholder 3"/>
          <p:cNvSpPr>
            <a:spLocks noGrp="1"/>
          </p:cNvSpPr>
          <p:nvPr>
            <p:ph idx="10" sz="half" type="dt"/>
          </p:nvPr>
        </p:nvSpPr>
        <p:spPr/>
        <p:txBody>
          <a:bodyPr/>
          <a:lstStyle/>
          <a:p>
            <a:pPr lvl="0" indent="0" marL="0">
              <a:buNone/>
            </a:pPr>
            <a:r>
              <a:rPr/>
              <a:t>2025-05-28</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indent="0" marL="0">
              <a:buNone/>
            </a:pPr>
            <a:r>
              <a:rPr/>
              <a:t>Drei Thesen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Wir leben im Zeitalter der Digitalität und Berechenbarkeit</a:t>
            </a:r>
          </a:p>
        </p:txBody>
      </p:sp>
      <p:sp>
        <p:nvSpPr>
          <p:cNvPr id="3" name="Content Placeholder 2"/>
          <p:cNvSpPr>
            <a:spLocks noGrp="1"/>
          </p:cNvSpPr>
          <p:nvPr>
            <p:ph idx="1"/>
          </p:nvPr>
        </p:nvSpPr>
        <p:spPr/>
        <p:txBody>
          <a:bodyPr/>
          <a:lstStyle/>
          <a:p>
            <a:pPr lvl="0" indent="0" marL="0">
              <a:buNone/>
            </a:pPr>
            <a:r>
              <a:rPr i="1"/>
              <a:t>Datafizierung</a:t>
            </a:r>
            <a:r>
              <a:rPr/>
              <a:t> markiert den epistemischen Wandel von einer Welt in der Daten ein engdefinierter Teil der Ergebnisse von Forschungsprozessen waren hin zu einem Status Quo in dem alle Forschungsprozesse immer schon durch Informations- und Kommunikationstechnologien vermittelt sind.</a:t>
            </a:r>
          </a:p>
          <a:p>
            <a:pPr lvl="0" indent="0" marL="0">
              <a:buNone/>
            </a:pPr>
            <a:r>
              <a:rPr/>
              <a:t>Gesellschaft und Wissenschaft sind bereits </a:t>
            </a:r>
            <a:r>
              <a:rPr i="1"/>
              <a:t>datafiziert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“analog” war (vor) gestern</a:t>
            </a:r>
          </a:p>
        </p:txBody>
      </p:sp>
      <p:sp>
        <p:nvSpPr>
          <p:cNvPr id="3" name="Content Placeholder 2"/>
          <p:cNvSpPr>
            <a:spLocks noGrp="1"/>
          </p:cNvSpPr>
          <p:nvPr>
            <p:ph idx="1"/>
          </p:nvPr>
        </p:nvSpPr>
        <p:spPr/>
        <p:txBody>
          <a:bodyPr/>
          <a:lstStyle/>
          <a:p>
            <a:pPr lvl="0" indent="0" marL="0">
              <a:buNone/>
            </a:pPr>
            <a:r>
              <a:rPr/>
              <a:t>Die Unterscheidung zwischen </a:t>
            </a:r>
            <a:r>
              <a:rPr i="1"/>
              <a:t>analog</a:t>
            </a:r>
            <a:r>
              <a:rPr/>
              <a:t> und </a:t>
            </a:r>
            <a:r>
              <a:rPr i="1"/>
              <a:t>digital</a:t>
            </a:r>
            <a:r>
              <a:rPr/>
              <a:t> hat ihren analytischen Wert verloren</a:t>
            </a:r>
          </a:p>
          <a:p>
            <a:pPr lvl="0" indent="0" marL="1270000">
              <a:buNone/>
            </a:pPr>
            <a:r>
              <a:rPr sz="2000"/>
              <a:t>We think of the ‘digital’ as a previous historic movement when computation as digitality was understood in opposition to the analogue, rather than complementary […]</a:t>
            </a:r>
          </a:p>
          <a:p>
            <a:pPr lvl="0" indent="0" marL="0">
              <a:buNone/>
            </a:pPr>
            <a:r>
              <a:rPr/>
              <a:t>Berry and Fagerjord (2017), 2</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Algorithmen und Infrastrukturen sind Akteure</a:t>
            </a:r>
          </a:p>
        </p:txBody>
      </p:sp>
      <p:sp>
        <p:nvSpPr>
          <p:cNvPr id="3" name="Content Placeholder 2"/>
          <p:cNvSpPr>
            <a:spLocks noGrp="1"/>
          </p:cNvSpPr>
          <p:nvPr>
            <p:ph idx="1"/>
          </p:nvPr>
        </p:nvSpPr>
        <p:spPr/>
        <p:txBody>
          <a:bodyPr/>
          <a:lstStyle/>
          <a:p>
            <a:pPr lvl="0" indent="0" marL="0">
              <a:buNone/>
            </a:pPr>
            <a:r>
              <a:rPr i="1"/>
              <a:t>Algorithmen</a:t>
            </a:r>
            <a:r>
              <a:rPr/>
              <a:t> sind Teil des sozialen Geflechts</a:t>
            </a:r>
          </a:p>
          <a:p>
            <a:pPr lvl="0" indent="0" marL="1270000">
              <a:buNone/>
            </a:pPr>
            <a:r>
              <a:rPr sz="2000"/>
              <a:t>Today, algorithms are such an intrinsic and fundamental part of how daily life is experienced that some scholars even argue that we live in “algorithmic cultures” […]. This evocative notion points to the increasing difficulty of separating algorithms from the activities that make up culture. It also evinces the complex ways in which human agency and algorithmic actions are intertwined […]</a:t>
            </a:r>
          </a:p>
          <a:p>
            <a:pPr lvl="0" indent="0" marL="0">
              <a:buNone/>
            </a:pPr>
            <a:r>
              <a:rPr/>
              <a:t>Siles (2023), 1</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indent="0" marL="0">
              <a:buNone/>
            </a:pPr>
            <a:r>
              <a:rPr/>
              <a:t>Was tun?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Geschichtswissenschaft im Zeitalter der Berechenbarkeit</a:t>
            </a:r>
          </a:p>
        </p:txBody>
      </p:sp>
      <p:sp>
        <p:nvSpPr>
          <p:cNvPr id="3" name="Content Placeholder 2"/>
          <p:cNvSpPr>
            <a:spLocks noGrp="1"/>
          </p:cNvSpPr>
          <p:nvPr>
            <p:ph idx="1"/>
          </p:nvPr>
        </p:nvSpPr>
        <p:spPr/>
        <p:txBody>
          <a:bodyPr/>
          <a:lstStyle/>
          <a:p>
            <a:pPr lvl="0" indent="0" marL="0">
              <a:buNone/>
            </a:pPr>
            <a:r>
              <a:rPr/>
              <a:t>To make sense of </a:t>
            </a:r>
            <a:r>
              <a:rPr i="1"/>
              <a:t>datafication</a:t>
            </a:r>
            <a:r>
              <a:rPr/>
              <a:t> we need cultural change within the discipline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Status quo</a:t>
            </a:r>
          </a:p>
          <a:p>
            <a:pPr lvl="0"/>
            <a:r>
              <a:rPr/>
              <a:t>very little computational research</a:t>
            </a:r>
          </a:p>
          <a:p>
            <a:pPr lvl="0"/>
            <a:r>
              <a:rPr/>
              <a:t>limited understanding of the epistemoloigcal and ontological dimentions of </a:t>
            </a:r>
            <a:r>
              <a:rPr b="1"/>
              <a:t>datafication</a:t>
            </a:r>
          </a:p>
          <a:p>
            <a:pPr lvl="0"/>
            <a:r>
              <a:rPr/>
              <a:t>limited understanding of the concept of </a:t>
            </a:r>
            <a:r>
              <a:rPr b="1"/>
              <a:t>research data</a:t>
            </a:r>
            <a:r>
              <a:rPr/>
              <a:t> and their enourmous potential for historical research</a:t>
            </a:r>
            <a:br/>
          </a:p>
          <a:p>
            <a:pPr lvl="0"/>
            <a:r>
              <a:rPr/>
              <a:t>limited practical computational skills</a:t>
            </a:r>
          </a:p>
          <a:p>
            <a:pPr lvl="0"/>
            <a:r>
              <a:rPr/>
              <a:t>constantly and rapidly evolving environment -&gt; generative AI, ML</a:t>
            </a:r>
          </a:p>
          <a:p>
            <a:pPr lvl="0"/>
            <a:r>
              <a:rPr/>
              <a:t>resentment towards “the digital”</a:t>
            </a:r>
          </a:p>
        </p:txBody>
      </p:sp>
      <p:sp>
        <p:nvSpPr>
          <p:cNvPr id="4" name="Content Placeholder 3"/>
          <p:cNvSpPr>
            <a:spLocks noGrp="1"/>
          </p:cNvSpPr>
          <p:nvPr>
            <p:ph idx="2" sz="half"/>
          </p:nvPr>
        </p:nvSpPr>
        <p:spPr/>
        <p:txBody>
          <a:bodyPr/>
          <a:lstStyle/>
          <a:p>
            <a:pPr lvl="0" indent="0" marL="0">
              <a:spcBef>
                <a:spcPts val="3000"/>
              </a:spcBef>
              <a:buNone/>
            </a:pPr>
            <a:r>
              <a:rPr b="1"/>
              <a:t>Aims</a:t>
            </a:r>
          </a:p>
          <a:p>
            <a:pPr lvl="0"/>
            <a:r>
              <a:rPr/>
              <a:t>Establish a robust and sustainable </a:t>
            </a:r>
            <a:r>
              <a:rPr b="1"/>
              <a:t>data culture</a:t>
            </a:r>
            <a:r>
              <a:rPr/>
              <a:t> in order to </a:t>
            </a:r>
            <a:r>
              <a:rPr i="1"/>
              <a:t>emerge from our self-incurred immaturity</a:t>
            </a:r>
          </a:p>
          <a:p>
            <a:pPr lvl="1"/>
            <a:r>
              <a:rPr/>
              <a:t>make sense of the new episteme</a:t>
            </a:r>
          </a:p>
          <a:p>
            <a:pPr lvl="1"/>
            <a:r>
              <a:rPr/>
              <a:t>develop the necessary skills to conduct historical research</a:t>
            </a:r>
          </a:p>
          <a:p>
            <a:pPr lvl="1"/>
            <a:r>
              <a:rPr/>
              <a:t>negotiate new understandings of history as a discipline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do we mean by </a:t>
            </a:r>
            <a:r>
              <a:rPr b="1"/>
              <a:t>data culture</a:t>
            </a:r>
            <a:r>
              <a:rPr/>
              <a:t>?</a:t>
            </a:r>
          </a:p>
        </p:txBody>
      </p:sp>
      <p:sp>
        <p:nvSpPr>
          <p:cNvPr id="3" name="Content Placeholder 2"/>
          <p:cNvSpPr>
            <a:spLocks noGrp="1"/>
          </p:cNvSpPr>
          <p:nvPr>
            <p:ph idx="1" sz="half"/>
          </p:nvPr>
        </p:nvSpPr>
        <p:spPr/>
        <p:txBody>
          <a:bodyPr/>
          <a:lstStyle/>
          <a:p>
            <a:pPr lvl="0" indent="0" marL="0">
              <a:spcBef>
                <a:spcPts val="3000"/>
              </a:spcBef>
              <a:buNone/>
            </a:pPr>
            <a:r>
              <a:rPr b="1"/>
              <a:t>broad sense</a:t>
            </a:r>
          </a:p>
          <a:p>
            <a:pPr lvl="0" indent="0" marL="0">
              <a:buNone/>
            </a:pPr>
            <a:r>
              <a:rPr/>
              <a:t>Data culture as a disciplinary culture, in which (research) data and computational methods form an integral part of historical research and reasoning.</a:t>
            </a:r>
          </a:p>
          <a:p>
            <a:pPr lvl="0" indent="0" marL="0">
              <a:buNone/>
            </a:pPr>
            <a:r>
              <a:rPr/>
              <a:t>This requires:</a:t>
            </a:r>
          </a:p>
          <a:p>
            <a:pPr lvl="0"/>
            <a:r>
              <a:rPr/>
              <a:t>fundamental theoretical, epistemological, and ontological knowledge of </a:t>
            </a:r>
            <a:r>
              <a:rPr i="1"/>
              <a:t>datafication</a:t>
            </a:r>
          </a:p>
          <a:p>
            <a:pPr lvl="0"/>
            <a:r>
              <a:rPr/>
              <a:t>reflection on its implications for all parts of the research process</a:t>
            </a:r>
          </a:p>
          <a:p>
            <a:pPr lvl="0"/>
            <a:r>
              <a:rPr/>
              <a:t>ongoing discussion on the necessary changes within the discipline</a:t>
            </a:r>
          </a:p>
        </p:txBody>
      </p:sp>
      <p:sp>
        <p:nvSpPr>
          <p:cNvPr id="4" name="Content Placeholder 3"/>
          <p:cNvSpPr>
            <a:spLocks noGrp="1"/>
          </p:cNvSpPr>
          <p:nvPr>
            <p:ph idx="2" sz="half"/>
          </p:nvPr>
        </p:nvSpPr>
        <p:spPr/>
        <p:txBody>
          <a:bodyPr/>
          <a:lstStyle/>
          <a:p>
            <a:pPr lvl="0" indent="0" marL="0">
              <a:spcBef>
                <a:spcPts val="3000"/>
              </a:spcBef>
              <a:buNone/>
            </a:pPr>
            <a:r>
              <a:rPr b="1"/>
              <a:t>narrow sense</a:t>
            </a:r>
          </a:p>
          <a:p>
            <a:pPr lvl="0" indent="0" marL="0">
              <a:buNone/>
            </a:pPr>
            <a:r>
              <a:rPr/>
              <a:t>Data culture as quotidian practices, skill sets, and disciplinary protocolls for handling (research) data and computational research.</a:t>
            </a:r>
          </a:p>
          <a:p>
            <a:pPr lvl="0" indent="0" marL="0">
              <a:buNone/>
            </a:pPr>
            <a:r>
              <a:rPr/>
              <a:t>This requires:</a:t>
            </a:r>
          </a:p>
          <a:p>
            <a:pPr lvl="0"/>
            <a:r>
              <a:rPr/>
              <a:t>orientation</a:t>
            </a:r>
          </a:p>
          <a:p>
            <a:pPr lvl="0"/>
            <a:r>
              <a:rPr/>
              <a:t>training</a:t>
            </a:r>
          </a:p>
          <a:p>
            <a:pPr lvl="0"/>
            <a:r>
              <a:rPr/>
              <a:t>support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data everywhere</a:t>
            </a:r>
          </a:p>
        </p:txBody>
      </p:sp>
      <p:sp>
        <p:nvSpPr>
          <p:cNvPr id="3" name="Content Placeholder 2"/>
          <p:cNvSpPr>
            <a:spLocks noGrp="1"/>
          </p:cNvSpPr>
          <p:nvPr>
            <p:ph idx="1"/>
          </p:nvPr>
        </p:nvSpPr>
        <p:spPr/>
        <p:txBody>
          <a:bodyPr/>
          <a:lstStyle/>
          <a:p>
            <a:pPr lvl="0" indent="0" marL="0">
              <a:buNone/>
            </a:pPr>
            <a:r>
              <a:rPr/>
              <a:t>All digital information is data …</a:t>
            </a:r>
          </a:p>
          <a:p>
            <a:pPr lvl="0" indent="0" marL="1270000">
              <a:buNone/>
            </a:pPr>
            <a:r>
              <a:rPr sz="2000"/>
              <a:t>Data are forms of information, a larger concept that is even more difficult to define. Epistemological and ontological problems abound, resulting in many books devoted to explicating information and knowledge</a:t>
            </a:r>
          </a:p>
          <a:p>
            <a:pPr lvl="0" indent="0" marL="0">
              <a:buNone/>
            </a:pPr>
            <a:r>
              <a:rPr/>
              <a:t>Borgman (2015), 18</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[Datafication/modeling] is the work of abstracting discrete values from a phenomenon or artifact. These values may be expressed in numbers or texts and are necessarily a reduction of complex materials into a form for computation. </a:t>
            </a:r>
          </a:p>
          <a:p>
            <a:pPr lvl="0" indent="0" marL="0">
              <a:buNone/>
            </a:pPr>
            <a:r>
              <a:rPr/>
              <a:t>Drucker (2021), 3</a:t>
            </a:r>
          </a:p>
          <a:p>
            <a:pPr lvl="0" indent="0" marL="1270000">
              <a:buNone/>
            </a:pPr>
            <a:r>
              <a:rPr sz="2000"/>
              <a:t>Data need to be imagined </a:t>
            </a:r>
            <a:r>
              <a:rPr sz="2000" i="1"/>
              <a:t>as</a:t>
            </a:r>
            <a:r>
              <a:rPr sz="2000"/>
              <a:t> data to exist and function as such, and the imagination of data entails an interpretive base.</a:t>
            </a:r>
          </a:p>
          <a:p>
            <a:pPr lvl="0" indent="0" marL="0">
              <a:buNone/>
            </a:pPr>
            <a:r>
              <a:rPr/>
              <a:t>Gitelman (2013), 3</a:t>
            </a:r>
          </a:p>
          <a:p>
            <a:pPr lvl="0" indent="0" marL="0">
              <a:buNone/>
            </a:pPr>
            <a:r>
              <a:rPr/>
              <a:t>… and all data is modelled</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indent="0" marL="0">
              <a:buNone/>
            </a:pPr>
            <a:r>
              <a:rPr/>
              <a:t>NFDI4Memory and Digital history at HU Berlin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Nationale Forschungsdateninfrastruktur (NFDI)</a:t>
            </a:r>
          </a:p>
        </p:txBody>
      </p:sp>
      <p:sp>
        <p:nvSpPr>
          <p:cNvPr id="3" name="Content Placeholder 2"/>
          <p:cNvSpPr>
            <a:spLocks noGrp="1"/>
          </p:cNvSpPr>
          <p:nvPr>
            <p:ph idx="1" sz="half"/>
          </p:nvPr>
        </p:nvSpPr>
        <p:spPr/>
        <p:txBody>
          <a:bodyPr/>
          <a:lstStyle/>
          <a:p>
            <a:pPr lvl="0" indent="0" marL="0">
              <a:spcBef>
                <a:spcPts val="3000"/>
              </a:spcBef>
              <a:buNone/>
            </a:pPr>
            <a:r>
              <a:rPr b="1"/>
              <a:t>today</a:t>
            </a:r>
          </a:p>
          <a:p>
            <a:pPr lvl="0" indent="-457200" marL="457200">
              <a:buAutoNum type="arabicPeriod"/>
            </a:pPr>
            <a:r>
              <a:rPr/>
              <a:t>Association with more than 260 member institutions from all academic disciplines: research institutes, universities, GLAM, academic associations …</a:t>
            </a:r>
          </a:p>
          <a:p>
            <a:pPr lvl="0" indent="-457200" marL="457200">
              <a:buAutoNum type="arabicPeriod"/>
            </a:pPr>
            <a:r>
              <a:rPr/>
              <a:t>26 independent consortia (five-year funding), among them four from the humanities and social sciences:</a:t>
            </a:r>
          </a:p>
          <a:p>
            <a:pPr lvl="1"/>
            <a:r>
              <a:rPr/>
              <a:t>NFDI4Culture</a:t>
            </a:r>
          </a:p>
          <a:p>
            <a:pPr lvl="1"/>
            <a:r>
              <a:rPr/>
              <a:t>NFDI4Objects</a:t>
            </a:r>
          </a:p>
          <a:p>
            <a:pPr lvl="1"/>
            <a:r>
              <a:rPr/>
              <a:t>Text+</a:t>
            </a:r>
          </a:p>
          <a:p>
            <a:pPr lvl="1"/>
            <a:r>
              <a:rPr/>
              <a:t>NFDI4Memory</a:t>
            </a:r>
          </a:p>
        </p:txBody>
      </p:sp>
      <p:sp>
        <p:nvSpPr>
          <p:cNvPr id="4" name="Content Placeholder 3"/>
          <p:cNvSpPr>
            <a:spLocks noGrp="1"/>
          </p:cNvSpPr>
          <p:nvPr>
            <p:ph idx="2" sz="half"/>
          </p:nvPr>
        </p:nvSpPr>
        <p:spPr/>
        <p:txBody>
          <a:bodyPr/>
          <a:lstStyle/>
          <a:p>
            <a:pPr lvl="0" indent="0" marL="0">
              <a:spcBef>
                <a:spcPts val="3000"/>
              </a:spcBef>
              <a:buNone/>
            </a:pPr>
            <a:r>
              <a:rPr b="1"/>
              <a:t>back story</a:t>
            </a:r>
          </a:p>
          <a:p>
            <a:pPr lvl="0"/>
            <a:r>
              <a:rPr/>
              <a:t>2016–18: Council for Information Infrastructures recommends creating a national research data infrastructure</a:t>
            </a:r>
          </a:p>
          <a:p>
            <a:pPr lvl="1"/>
            <a:r>
              <a:rPr/>
              <a:t>sustainable infrastructure for research data</a:t>
            </a:r>
          </a:p>
          <a:p>
            <a:pPr lvl="1"/>
            <a:r>
              <a:rPr/>
              <a:t>bottom-up and federated</a:t>
            </a:r>
          </a:p>
          <a:p>
            <a:pPr lvl="1"/>
            <a:r>
              <a:rPr/>
              <a:t>centered around data providers and users</a:t>
            </a:r>
          </a:p>
          <a:p>
            <a:pPr lvl="1"/>
            <a:r>
              <a:rPr/>
              <a:t>disciplines and domain experts “at the helm”</a:t>
            </a:r>
          </a:p>
          <a:p>
            <a:pPr lvl="1"/>
            <a:r>
              <a:rPr/>
              <a:t>organised into disciplinary communities</a:t>
            </a:r>
          </a:p>
          <a:p>
            <a:pPr lvl="0"/>
            <a:r>
              <a:rPr/>
              <a:t>2018- : NFDI</a:t>
            </a:r>
          </a:p>
          <a:p>
            <a:pPr lvl="1"/>
            <a:r>
              <a:rPr/>
              <a:t>three rounds of applications: 2020, 2021, 2022</a:t>
            </a:r>
          </a:p>
          <a:p>
            <a:pPr lvl="1"/>
            <a:r>
              <a:rPr/>
              <a:t>funded by the federal and state governments</a:t>
            </a:r>
          </a:p>
          <a:p>
            <a:pPr lvl="1"/>
            <a:r>
              <a:rPr/>
              <a:t>organised by the Deutsche Forschungsgemeinsschaft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NFDI4Memory</a:t>
            </a:r>
          </a:p>
        </p:txBody>
      </p:sp>
      <p:sp>
        <p:nvSpPr>
          <p:cNvPr id="3" name="Content Placeholder 2"/>
          <p:cNvSpPr>
            <a:spLocks noGrp="1"/>
          </p:cNvSpPr>
          <p:nvPr>
            <p:ph idx="1"/>
          </p:nvPr>
        </p:nvSpPr>
        <p:spPr/>
        <p:txBody>
          <a:bodyPr/>
          <a:lstStyle/>
          <a:p>
            <a:pPr lvl="0" indent="0" marL="0">
              <a:spcBef>
                <a:spcPts val="3000"/>
              </a:spcBef>
              <a:buNone/>
            </a:pPr>
            <a:r>
              <a:rPr b="1"/>
              <a:t>NFDI Consortium for the historically oriented humanities (2023–)</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type="body"/>
          </p:nvPr>
        </p:nvSpPr>
        <p:spPr/>
        <p:txBody>
          <a:bodyPr/>
          <a:lstStyle/>
          <a:p>
            <a:pPr lvl="0"/>
            <a:r>
              <a:rPr/>
              <a:t>Unites research, memory and information infrastructure institutions in a digital research infrastructure</a:t>
            </a:r>
          </a:p>
          <a:p>
            <a:pPr lvl="0"/>
            <a:r>
              <a:rPr/>
              <a:t>Drives forward the digital transformation of the historically oriented humanities</a:t>
            </a:r>
          </a:p>
          <a:p>
            <a:pPr lvl="0"/>
            <a:r>
              <a:rPr/>
              <a:t>Develops digital historical source criticism for the humanities and for the NFDI</a:t>
            </a:r>
          </a:p>
        </p:txBody>
      </p:sp>
      <p:sp>
        <p:nvSpPr>
          <p:cNvPr id="5" name="Text Placeholder 4"/>
          <p:cNvSpPr>
            <a:spLocks noGrp="1"/>
          </p:cNvSpPr>
          <p:nvPr>
            <p:ph idx="3" sz="quarter" type="body"/>
          </p:nvPr>
        </p:nvSpPr>
        <p:spPr/>
        <p:txBody>
          <a:bodyPr/>
          <a:lstStyle/>
          <a:p>
            <a:pPr lvl="0"/>
            <a:r>
              <a:rPr/>
              <a:t>11 </a:t>
            </a:r>
            <a:r>
              <a:rPr b="1"/>
              <a:t>Co-applicants</a:t>
            </a:r>
            <a:r>
              <a:rPr/>
              <a:t>: lead 6 </a:t>
            </a:r>
            <a:r>
              <a:rPr i="1"/>
              <a:t>task areas</a:t>
            </a:r>
          </a:p>
          <a:p>
            <a:pPr lvl="0"/>
            <a:r>
              <a:rPr/>
              <a:t>81 </a:t>
            </a:r>
            <a:r>
              <a:rPr b="1"/>
              <a:t>Participants</a:t>
            </a:r>
            <a:r>
              <a:rPr/>
              <a:t>: contribute ideas, expertise and networks</a:t>
            </a:r>
          </a:p>
        </p:txBody>
      </p:sp>
      <p:pic>
        <p:nvPicPr>
          <p:cNvPr descr="../../assets/dh/4memory/co-applicants.png" id="0" name="Picture 1"/>
          <p:cNvPicPr>
            <a:picLocks noGrp="1" noChangeAspect="1"/>
          </p:cNvPicPr>
          <p:nvPr/>
        </p:nvPicPr>
        <p:blipFill>
          <a:blip r:embed="rId3"/>
          <a:stretch>
            <a:fillRect/>
          </a:stretch>
        </p:blipFill>
        <p:spPr bwMode="auto">
          <a:xfrm>
            <a:off x="4635500" y="2806700"/>
            <a:ext cx="4038600" cy="26670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p>
            <a:pPr lvl="0" indent="0" marL="0">
              <a:buNone/>
            </a:pPr>
            <a:r>
              <a:rPr/>
              <a:t>NFDI4Memory</a:t>
            </a:r>
          </a:p>
        </p:txBody>
      </p:sp>
      <p:sp>
        <p:nvSpPr>
          <p:cNvPr id="4" name="Text Placeholder 3"/>
          <p:cNvSpPr>
            <a:spLocks noGrp="1"/>
          </p:cNvSpPr>
          <p:nvPr>
            <p:ph idx="2" sz="half" type="body"/>
          </p:nvPr>
        </p:nvSpPr>
        <p:spPr/>
        <p:txBody>
          <a:bodyPr/>
          <a:lstStyle/>
          <a:p>
            <a:pPr lvl="0" indent="0" marL="0">
              <a:spcBef>
                <a:spcPts val="3000"/>
              </a:spcBef>
              <a:buNone/>
            </a:pPr>
            <a:r>
              <a:rPr b="1"/>
              <a:t>Task areas</a:t>
            </a:r>
          </a:p>
        </p:txBody>
      </p:sp>
      <p:pic>
        <p:nvPicPr>
          <p:cNvPr descr="../../assets/dh/4memory/task-areas.png" id="0" name="Picture 1"/>
          <p:cNvPicPr>
            <a:picLocks noGrp="1" noChangeAspect="1"/>
          </p:cNvPicPr>
          <p:nvPr/>
        </p:nvPicPr>
        <p:blipFill>
          <a:blip r:embed="rId2"/>
          <a:stretch>
            <a:fillRect/>
          </a:stretch>
        </p:blipFill>
        <p:spPr bwMode="auto">
          <a:xfrm>
            <a:off x="3568700" y="1854200"/>
            <a:ext cx="5105400" cy="26670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Digital history at HU Berlin</a:t>
            </a:r>
          </a:p>
        </p:txBody>
      </p:sp>
      <p:pic>
        <p:nvPicPr>
          <p:cNvPr descr="../../assets/datafication/digital-history-at-hu.jpg" id="0" name="Picture 1"/>
          <p:cNvPicPr>
            <a:picLocks noGrp="1" noChangeAspect="1"/>
          </p:cNvPicPr>
          <p:nvPr/>
        </p:nvPicPr>
        <p:blipFill>
          <a:blip r:embed="rId3"/>
          <a:stretch>
            <a:fillRect/>
          </a:stretch>
        </p:blipFill>
        <p:spPr bwMode="auto">
          <a:xfrm>
            <a:off x="558800" y="1600200"/>
            <a:ext cx="8039100" cy="45212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indent="0" marL="0">
              <a:buNone/>
            </a:pPr>
            <a:r>
              <a:rPr/>
              <a:t>Data culture by way of an example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Who wrote “Sein Leben und seine Reden?”</a:t>
            </a:r>
          </a:p>
        </p:txBody>
      </p:sp>
      <p:pic>
        <p:nvPicPr>
          <p:cNvPr descr="../../assets/datafication/hitler_welt-article.png" id="0" name="Picture 1"/>
          <p:cNvPicPr>
            <a:picLocks noGrp="1" noChangeAspect="1"/>
          </p:cNvPicPr>
          <p:nvPr/>
        </p:nvPicPr>
        <p:blipFill>
          <a:blip r:embed="rId3"/>
          <a:stretch>
            <a:fillRect/>
          </a:stretch>
        </p:blipFill>
        <p:spPr bwMode="auto">
          <a:xfrm>
            <a:off x="787400" y="1600200"/>
            <a:ext cx="3365500" cy="4013200"/>
          </a:xfrm>
          <a:prstGeom prst="rect">
            <a:avLst/>
          </a:prstGeom>
          <a:noFill/>
          <a:ln w="9525">
            <a:noFill/>
            <a:headEnd/>
            <a:tailEnd/>
          </a:ln>
        </p:spPr>
      </p:pic>
      <p:sp>
        <p:nvSpPr>
          <p:cNvPr id="1" name="TextBox 3"/>
          <p:cNvSpPr txBox="1"/>
          <p:nvPr/>
        </p:nvSpPr>
        <p:spPr>
          <a:xfrm>
            <a:off x="457200" y="5613400"/>
            <a:ext cx="4038600" cy="508000"/>
          </a:xfrm>
          <a:prstGeom prst="rect">
            <a:avLst/>
          </a:prstGeom>
          <a:noFill/>
        </p:spPr>
        <p:txBody>
          <a:bodyPr/>
          <a:lstStyle/>
          <a:p>
            <a:pPr lvl="0" indent="0" marL="0" algn="ctr">
              <a:buNone/>
            </a:pPr>
            <a:r>
              <a:rPr/>
              <a:t>Screenshot of a journalistic peace on the “discovery”</a:t>
            </a:r>
          </a:p>
        </p:txBody>
      </p:sp>
      <p:sp>
        <p:nvSpPr>
          <p:cNvPr id="4" name="Content Placeholder 3"/>
          <p:cNvSpPr>
            <a:spLocks noGrp="1"/>
          </p:cNvSpPr>
          <p:nvPr>
            <p:ph idx="2" sz="half"/>
          </p:nvPr>
        </p:nvSpPr>
        <p:spPr/>
        <p:txBody>
          <a:bodyPr/>
          <a:lstStyle/>
          <a:p>
            <a:pPr lvl="0"/>
            <a:r>
              <a:rPr/>
              <a:t>Research question</a:t>
            </a:r>
          </a:p>
          <a:p>
            <a:pPr lvl="1"/>
            <a:r>
              <a:rPr/>
              <a:t>Who wrote Adolf Hitler’s short biography published as part of Koerber (1923)?</a:t>
            </a:r>
          </a:p>
          <a:p>
            <a:pPr lvl="0"/>
            <a:r>
              <a:rPr/>
              <a:t>Background</a:t>
            </a:r>
          </a:p>
          <a:p>
            <a:pPr lvl="1"/>
            <a:r>
              <a:rPr/>
              <a:t>The book is an important source for research on the early phase of National Socialism and the rise of Adolf Hitler</a:t>
            </a:r>
          </a:p>
          <a:p>
            <a:pPr lvl="1"/>
            <a:r>
              <a:rPr/>
              <a:t>Hypothesis of Hitler’s authorship stoked up considerable public controversy in the 2010s</a:t>
            </a:r>
          </a:p>
          <a:p>
            <a:pPr lvl="0"/>
            <a:r>
              <a:rPr/>
              <a:t>Context</a:t>
            </a:r>
          </a:p>
          <a:p>
            <a:pPr lvl="1"/>
            <a:r>
              <a:rPr/>
              <a:t>MA seminar “Who wrote it? Authorship Attribution as a method of Digital History” 2023</a:t>
            </a:r>
          </a:p>
          <a:p>
            <a:pPr lvl="1"/>
            <a:r>
              <a:rPr/>
              <a:t>Research paper</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Methods and tool criticism</a:t>
            </a:r>
          </a:p>
        </p:txBody>
      </p:sp>
      <p:sp>
        <p:nvSpPr>
          <p:cNvPr id="3" name="Content Placeholder 2"/>
          <p:cNvSpPr>
            <a:spLocks noGrp="1"/>
          </p:cNvSpPr>
          <p:nvPr>
            <p:ph idx="1"/>
          </p:nvPr>
        </p:nvSpPr>
        <p:spPr/>
        <p:txBody>
          <a:bodyPr/>
          <a:lstStyle/>
          <a:p>
            <a:pPr lvl="0" indent="0" marL="0">
              <a:spcBef>
                <a:spcPts val="3000"/>
              </a:spcBef>
              <a:buNone/>
            </a:pPr>
            <a:r>
              <a:rPr b="1"/>
              <a:t>Designing a research project</a:t>
            </a:r>
          </a:p>
          <a:p>
            <a:pPr lvl="0" indent="-457200" marL="457200">
              <a:buAutoNum type="arabicPeriod"/>
            </a:pPr>
            <a:r>
              <a:rPr/>
              <a:t>Are there computational methods to investigate the question of authorship?</a:t>
            </a:r>
          </a:p>
          <a:p>
            <a:pPr lvl="0" indent="-457200" marL="457200">
              <a:buAutoNum type="arabicPeriod"/>
            </a:pPr>
            <a:r>
              <a:rPr/>
              <a:t>What are the epistemological implications and consequences of applying a specific method and its concrete implementation for our research project?</a:t>
            </a:r>
          </a:p>
          <a:p>
            <a:pPr lvl="0" indent="-457200" marL="457200">
              <a:buAutoNum type="arabicPeriod"/>
            </a:pPr>
            <a:r>
              <a:rPr/>
              <a:t>What are the infrastructural requirements for using concrete tools?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Methods and tool criticism</a:t>
            </a:r>
          </a:p>
        </p:txBody>
      </p:sp>
      <p:sp>
        <p:nvSpPr>
          <p:cNvPr id="3" name="Content Placeholder 2"/>
          <p:cNvSpPr>
            <a:spLocks noGrp="1"/>
          </p:cNvSpPr>
          <p:nvPr>
            <p:ph idx="1"/>
          </p:nvPr>
        </p:nvSpPr>
        <p:spPr/>
        <p:txBody>
          <a:bodyPr/>
          <a:lstStyle/>
          <a:p>
            <a:pPr lvl="0" indent="0" marL="0">
              <a:spcBef>
                <a:spcPts val="3000"/>
              </a:spcBef>
              <a:buNone/>
            </a:pPr>
            <a:r>
              <a:rPr b="1"/>
              <a:t>Stilometric authorship attribution</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background …</a:t>
            </a:r>
          </a:p>
          <a:p>
            <a:pPr lvl="0"/>
            <a:r>
              <a:rPr/>
              <a:t>Authorship signal is prevalent in most frequent features (MFF)</a:t>
            </a:r>
          </a:p>
          <a:p>
            <a:pPr lvl="1"/>
            <a:r>
              <a:rPr/>
              <a:t>comparative method</a:t>
            </a:r>
          </a:p>
          <a:p>
            <a:pPr lvl="1"/>
            <a:r>
              <a:rPr/>
              <a:t>sharp decline in reliability below a mininmal text length (&gt;2500 tokens)</a:t>
            </a:r>
          </a:p>
        </p:txBody>
      </p:sp>
      <p:sp>
        <p:nvSpPr>
          <p:cNvPr id="4" name="Content Placeholder 3"/>
          <p:cNvSpPr>
            <a:spLocks noGrp="1"/>
          </p:cNvSpPr>
          <p:nvPr>
            <p:ph idx="2" sz="half"/>
          </p:nvPr>
        </p:nvSpPr>
        <p:spPr/>
        <p:txBody>
          <a:bodyPr/>
          <a:lstStyle/>
          <a:p>
            <a:pPr lvl="0" indent="0" marL="0">
              <a:buNone/>
            </a:pPr>
            <a:r>
              <a:rPr/>
              <a:t>… workflow …</a:t>
            </a:r>
          </a:p>
          <a:p>
            <a:pPr lvl="0" indent="-457200" marL="457200">
              <a:buAutoNum type="arabicPeriod"/>
            </a:pPr>
            <a:r>
              <a:rPr/>
              <a:t>compute frequencies of features for every text</a:t>
            </a:r>
          </a:p>
          <a:p>
            <a:pPr lvl="0" indent="-457200" marL="457200">
              <a:buAutoNum type="arabicPeriod"/>
            </a:pPr>
            <a:r>
              <a:rPr/>
              <a:t>compare all frequencies</a:t>
            </a:r>
          </a:p>
          <a:p>
            <a:pPr lvl="0" indent="-457200" marL="457200">
              <a:buAutoNum type="arabicPeriod"/>
            </a:pPr>
            <a:r>
              <a:rPr/>
              <a:t>validate through voting (</a:t>
            </a:r>
            <a:r>
              <a:rPr i="1"/>
              <a:t>consensus</a:t>
            </a:r>
            <a:r>
              <a:rPr/>
              <a:t>) of multiple iterations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 decisions all along the way</a:t>
            </a:r>
          </a:p>
          <a:p>
            <a:pPr lvl="0"/>
            <a:r>
              <a:rPr/>
              <a:t>corpus building</a:t>
            </a:r>
          </a:p>
          <a:p>
            <a:pPr lvl="0"/>
            <a:r>
              <a:rPr/>
              <a:t>pre-processing to turn the corpus into a data set</a:t>
            </a:r>
          </a:p>
          <a:p>
            <a:pPr lvl="0"/>
            <a:r>
              <a:rPr/>
              <a:t>feature extraction</a:t>
            </a:r>
          </a:p>
          <a:p>
            <a:pPr lvl="0"/>
            <a:r>
              <a:rPr/>
              <a:t>feature count</a:t>
            </a:r>
          </a:p>
          <a:p>
            <a:pPr lvl="0"/>
            <a:r>
              <a:rPr/>
              <a:t>statistical analysis</a:t>
            </a:r>
          </a:p>
          <a:p>
            <a:pPr lvl="0"/>
            <a:r>
              <a:rPr/>
              <a:t>presentation and visualisation</a:t>
            </a:r>
          </a:p>
        </p:txBody>
      </p:sp>
      <p:pic>
        <p:nvPicPr>
          <p:cNvPr descr="../../assets/datafication/hitler_pca.png" id="0" name="Picture 1"/>
          <p:cNvPicPr>
            <a:picLocks noGrp="1" noChangeAspect="1"/>
          </p:cNvPicPr>
          <p:nvPr/>
        </p:nvPicPr>
        <p:blipFill>
          <a:blip r:embed="rId3"/>
          <a:stretch>
            <a:fillRect/>
          </a:stretch>
        </p:blipFill>
        <p:spPr bwMode="auto">
          <a:xfrm>
            <a:off x="4648200" y="1651000"/>
            <a:ext cx="4038600" cy="3911600"/>
          </a:xfrm>
          <a:prstGeom prst="rect">
            <a:avLst/>
          </a:prstGeom>
          <a:noFill/>
          <a:ln w="9525">
            <a:noFill/>
            <a:headEnd/>
            <a:tailEnd/>
          </a:ln>
        </p:spPr>
      </p:pic>
      <p:sp>
        <p:nvSpPr>
          <p:cNvPr id="1" name="TextBox 3"/>
          <p:cNvSpPr txBox="1"/>
          <p:nvPr/>
        </p:nvSpPr>
        <p:spPr>
          <a:xfrm>
            <a:off x="4648200" y="5613400"/>
            <a:ext cx="4038600" cy="508000"/>
          </a:xfrm>
          <a:prstGeom prst="rect">
            <a:avLst/>
          </a:prstGeom>
          <a:noFill/>
        </p:spPr>
        <p:txBody>
          <a:bodyPr/>
          <a:lstStyle/>
          <a:p>
            <a:pPr lvl="0" indent="0" marL="0" algn="ctr">
              <a:buNone/>
            </a:pPr>
            <a:r>
              <a:rPr/>
              <a:t>PCA of MFF</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publish datafied historiography?</a:t>
            </a:r>
          </a:p>
        </p:txBody>
      </p:sp>
      <p:sp>
        <p:nvSpPr>
          <p:cNvPr id="3" name="Content Placeholder 2"/>
          <p:cNvSpPr>
            <a:spLocks noGrp="1"/>
          </p:cNvSpPr>
          <p:nvPr>
            <p:ph idx="1"/>
          </p:nvPr>
        </p:nvSpPr>
        <p:spPr/>
        <p:txBody>
          <a:bodyPr/>
          <a:lstStyle/>
          <a:p>
            <a:pPr lvl="0"/>
            <a:r>
              <a:rPr/>
              <a:t>How to publish the historical narrative, the data set, methodological discussions, computer code for analysis and visualisation, and our interpretation of the results?</a:t>
            </a:r>
          </a:p>
          <a:p>
            <a:pPr lvl="0"/>
            <a:r>
              <a:rPr/>
              <a:t>Which levels of transparency, reproducability, and interactivity shall be reached (and for how long)?</a:t>
            </a:r>
          </a:p>
          <a:p>
            <a:pPr lvl="0"/>
            <a:r>
              <a:rPr/>
              <a:t>How stable should publications be?</a:t>
            </a:r>
          </a:p>
          <a:p>
            <a:pPr lvl="0"/>
            <a:r>
              <a:rPr/>
              <a:t>How to review such new historiographies (both pre and post publication)?</a:t>
            </a:r>
          </a:p>
          <a:p>
            <a:pPr lvl="0" indent="0" marL="0">
              <a:buNone/>
            </a:pP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ethical and legal dimensions of </a:t>
            </a:r>
            <a:r>
              <a:rPr b="1"/>
              <a:t>data culture</a:t>
            </a:r>
          </a:p>
        </p:txBody>
      </p:sp>
      <p:sp>
        <p:nvSpPr>
          <p:cNvPr id="3" name="Content Placeholder 2"/>
          <p:cNvSpPr>
            <a:spLocks noGrp="1"/>
          </p:cNvSpPr>
          <p:nvPr>
            <p:ph idx="1" sz="half"/>
          </p:nvPr>
        </p:nvSpPr>
        <p:spPr/>
        <p:txBody>
          <a:bodyPr/>
          <a:lstStyle/>
          <a:p>
            <a:pPr lvl="0" indent="0" marL="0">
              <a:spcBef>
                <a:spcPts val="3000"/>
              </a:spcBef>
              <a:buNone/>
            </a:pPr>
            <a:r>
              <a:rPr b="1"/>
              <a:t>legal dimension</a:t>
            </a:r>
          </a:p>
          <a:p>
            <a:pPr lvl="0"/>
            <a:r>
              <a:rPr b="1"/>
              <a:t>are we allowed</a:t>
            </a:r>
            <a:r>
              <a:rPr/>
              <a:t> to </a:t>
            </a:r>
            <a:r>
              <a:rPr i="1"/>
              <a:t>datafy</a:t>
            </a:r>
            <a:r>
              <a:rPr/>
              <a:t>, save, and process copyrighted or censored material?</a:t>
            </a:r>
          </a:p>
          <a:p>
            <a:pPr lvl="0"/>
            <a:r>
              <a:rPr/>
              <a:t>which </a:t>
            </a:r>
            <a:r>
              <a:rPr i="1"/>
              <a:t>research data</a:t>
            </a:r>
            <a:r>
              <a:rPr/>
              <a:t> </a:t>
            </a:r>
            <a:r>
              <a:rPr b="1"/>
              <a:t>can we</a:t>
            </a:r>
            <a:r>
              <a:rPr/>
              <a:t> publish to ensure transparency and reproducability?</a:t>
            </a:r>
          </a:p>
          <a:p>
            <a:pPr lvl="0"/>
            <a:r>
              <a:rPr/>
              <a:t>which </a:t>
            </a:r>
            <a:r>
              <a:rPr i="1"/>
              <a:t>research data</a:t>
            </a:r>
            <a:r>
              <a:rPr/>
              <a:t> </a:t>
            </a:r>
            <a:r>
              <a:rPr b="1"/>
              <a:t>do we have to</a:t>
            </a:r>
            <a:r>
              <a:rPr/>
              <a:t> publish?</a:t>
            </a:r>
          </a:p>
        </p:txBody>
      </p:sp>
      <p:sp>
        <p:nvSpPr>
          <p:cNvPr id="4" name="Content Placeholder 3"/>
          <p:cNvSpPr>
            <a:spLocks noGrp="1"/>
          </p:cNvSpPr>
          <p:nvPr>
            <p:ph idx="2" sz="half"/>
          </p:nvPr>
        </p:nvSpPr>
        <p:spPr/>
        <p:txBody>
          <a:bodyPr/>
          <a:lstStyle/>
          <a:p>
            <a:pPr lvl="0" indent="0" marL="0">
              <a:spcBef>
                <a:spcPts val="3000"/>
              </a:spcBef>
              <a:buNone/>
            </a:pPr>
            <a:r>
              <a:rPr b="1"/>
              <a:t>ethical dimension</a:t>
            </a:r>
          </a:p>
          <a:p>
            <a:pPr lvl="0"/>
            <a:r>
              <a:rPr b="1"/>
              <a:t>should we</a:t>
            </a:r>
            <a:r>
              <a:rPr/>
              <a:t> make racist material accessible and visible?</a:t>
            </a:r>
          </a:p>
          <a:p>
            <a:pPr lvl="0"/>
            <a:r>
              <a:rPr/>
              <a:t>which </a:t>
            </a:r>
            <a:r>
              <a:rPr i="1"/>
              <a:t>research data</a:t>
            </a:r>
            <a:r>
              <a:rPr/>
              <a:t> </a:t>
            </a:r>
            <a:r>
              <a:rPr b="1"/>
              <a:t>should we</a:t>
            </a:r>
            <a:r>
              <a:rPr/>
              <a:t> publish to ensure transparency and reproducability?</a:t>
            </a:r>
          </a:p>
          <a:p>
            <a:pPr lvl="0"/>
            <a:r>
              <a:rPr b="1"/>
              <a:t>should we</a:t>
            </a:r>
            <a:r>
              <a:rPr/>
              <a:t> and </a:t>
            </a:r>
            <a:r>
              <a:rPr b="1"/>
              <a:t>can we</a:t>
            </a:r>
            <a:r>
              <a:rPr/>
              <a:t> prevent the decontextualisation of published data?</a:t>
            </a:r>
          </a:p>
          <a:p>
            <a:pPr lvl="0"/>
            <a:r>
              <a:rPr/>
              <a:t>which expense of natural and social resources is </a:t>
            </a:r>
            <a:r>
              <a:rPr b="1"/>
              <a:t>justified</a:t>
            </a:r>
            <a:r>
              <a:rPr/>
              <a: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indent="0" marL="0">
              <a:buNone/>
            </a:pPr>
            <a:r>
              <a:rPr/>
              <a:t>How do we foster </a:t>
            </a:r>
            <a:r>
              <a:rPr i="1"/>
              <a:t>data culture</a:t>
            </a:r>
            <a:r>
              <a:rPr/>
              <a: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Measures</a:t>
            </a:r>
          </a:p>
        </p:txBody>
      </p:sp>
      <p:sp>
        <p:nvSpPr>
          <p:cNvPr id="3" name="Content Placeholder 2"/>
          <p:cNvSpPr>
            <a:spLocks noGrp="1"/>
          </p:cNvSpPr>
          <p:nvPr>
            <p:ph idx="1"/>
          </p:nvPr>
        </p:nvSpPr>
        <p:spPr/>
        <p:txBody>
          <a:bodyPr/>
          <a:lstStyle/>
          <a:p>
            <a:pPr lvl="0" indent="0" marL="0">
              <a:buNone/>
            </a:pPr>
            <a:r>
              <a:rPr/>
              <a:t>M1: questioning knowledge orders</a:t>
            </a:r>
          </a:p>
          <a:p>
            <a:pPr lvl="0"/>
            <a:r>
              <a:rPr b="1"/>
              <a:t>expert group</a:t>
            </a:r>
            <a:r>
              <a:rPr/>
              <a:t> on cultural change in the historically oriented humanities</a:t>
            </a:r>
          </a:p>
          <a:p>
            <a:pPr lvl="0"/>
            <a:r>
              <a:rPr b="1"/>
              <a:t>round tables</a:t>
            </a:r>
            <a:r>
              <a:rPr/>
              <a:t> with academic associations</a:t>
            </a:r>
          </a:p>
          <a:p>
            <a:pPr lvl="0"/>
            <a:r>
              <a:rPr/>
              <a:t>international </a:t>
            </a:r>
            <a:r>
              <a:rPr b="1"/>
              <a:t>workshops</a:t>
            </a:r>
            <a:r>
              <a:rPr/>
              <a:t> with GHI Paris and Washington</a:t>
            </a:r>
          </a:p>
          <a:p>
            <a:pPr lvl="0"/>
            <a:r>
              <a:rPr b="1"/>
              <a:t>travel grants</a:t>
            </a:r>
            <a:r>
              <a:rPr/>
              <a:t> for Early Career Researchers (twice per year)</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field survey</a:t>
            </a:r>
            <a:r>
              <a:rPr/>
              <a:t> of computational methods in the historically oriented humanities</a:t>
            </a:r>
          </a:p>
          <a:p>
            <a:pPr lvl="1"/>
            <a:r>
              <a:rPr/>
              <a:t>Registry of methods, tools, publications on Wikidata</a:t>
            </a:r>
          </a:p>
          <a:p>
            <a:pPr lvl="0"/>
            <a:r>
              <a:rPr b="1"/>
              <a:t>Data Stories</a:t>
            </a:r>
            <a:r>
              <a:rPr/>
              <a:t> (Clio Guides) introducing and reflecting on computational methods</a:t>
            </a:r>
          </a:p>
          <a:p>
            <a:pPr lvl="0"/>
            <a:r>
              <a:rPr/>
              <a:t>Developing </a:t>
            </a:r>
            <a:r>
              <a:rPr b="1"/>
              <a:t>collaborative case studies</a:t>
            </a:r>
            <a:r>
              <a:rPr/>
              <a:t> with the community</a:t>
            </a:r>
          </a:p>
          <a:p>
            <a:pPr lvl="0" indent="0" marL="0">
              <a:buNone/>
            </a:pPr>
            <a:r>
              <a:rPr/>
              <a:t>M2: Methods Innovation Lab</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M3: ethical and legal frameworks</a:t>
            </a:r>
          </a:p>
          <a:p>
            <a:pPr lvl="0"/>
            <a:r>
              <a:rPr b="1"/>
              <a:t>expert group</a:t>
            </a:r>
            <a:r>
              <a:rPr/>
              <a:t> on ethical and legal questions</a:t>
            </a:r>
          </a:p>
          <a:p>
            <a:pPr lvl="0"/>
            <a:r>
              <a:rPr b="1"/>
              <a:t>guidelines</a:t>
            </a:r>
            <a:r>
              <a:rPr/>
              <a:t> and FAQs</a:t>
            </a:r>
          </a:p>
          <a:p>
            <a:pPr lvl="0"/>
            <a:r>
              <a:rPr/>
              <a:t>VH|D|igital lecture series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expert group</a:t>
            </a:r>
          </a:p>
          <a:p>
            <a:pPr lvl="0"/>
            <a:r>
              <a:rPr/>
              <a:t>developing </a:t>
            </a:r>
            <a:r>
              <a:rPr b="1"/>
              <a:t>criteria for evaluating</a:t>
            </a:r>
            <a:r>
              <a:rPr/>
              <a:t> the quality of data sets and data papers</a:t>
            </a:r>
          </a:p>
          <a:p>
            <a:pPr lvl="0"/>
            <a:r>
              <a:rPr/>
              <a:t>developing </a:t>
            </a:r>
            <a:r>
              <a:rPr b="1"/>
              <a:t>workflows</a:t>
            </a:r>
          </a:p>
          <a:p>
            <a:pPr lvl="0"/>
            <a:r>
              <a:rPr/>
              <a:t>Exemplary implementation on H-Soz-Kult</a:t>
            </a:r>
          </a:p>
          <a:p>
            <a:pPr lvl="0" indent="0" marL="0">
              <a:buNone/>
            </a:pPr>
            <a:r>
              <a:rPr/>
              <a:t>M4: Publishing and reviewing cultures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M5: Engaging the community</a:t>
            </a:r>
          </a:p>
          <a:p>
            <a:pPr lvl="0"/>
            <a:r>
              <a:rPr/>
              <a:t>interdisziplinary </a:t>
            </a:r>
            <a:r>
              <a:rPr b="1"/>
              <a:t>summer schools</a:t>
            </a:r>
          </a:p>
          <a:p>
            <a:pPr lvl="0"/>
            <a:r>
              <a:rPr b="1"/>
              <a:t>FAIR Data Fellowships</a:t>
            </a:r>
          </a:p>
          <a:p>
            <a:pPr lvl="0"/>
            <a:r>
              <a:rPr/>
              <a:t>Clio Online 2.0</a:t>
            </a:r>
          </a:p>
          <a:p>
            <a:pPr lvl="0"/>
            <a:r>
              <a:rPr/>
              <a:t>NFDI4Memory </a:t>
            </a:r>
            <a:r>
              <a:rPr b="1"/>
              <a:t>graduate network</a:t>
            </a:r>
            <a:r>
              <a:rPr/>
              <a:t> Digital History, annual retreats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indent="0" marL="0">
              <a:buNone/>
            </a:pPr>
            <a:r>
              <a:rPr/>
              <a:t>Conclusion</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making sense of the new episteme</a:t>
            </a:r>
          </a:p>
        </p:txBody>
      </p:sp>
      <p:sp>
        <p:nvSpPr>
          <p:cNvPr id="3" name="Content Placeholder 2"/>
          <p:cNvSpPr>
            <a:spLocks noGrp="1"/>
          </p:cNvSpPr>
          <p:nvPr>
            <p:ph idx="1" sz="half"/>
          </p:nvPr>
        </p:nvSpPr>
        <p:spPr/>
        <p:txBody>
          <a:bodyPr/>
          <a:lstStyle/>
          <a:p>
            <a:pPr lvl="0"/>
            <a:r>
              <a:rPr/>
              <a:t>shifting epistemologies</a:t>
            </a:r>
          </a:p>
          <a:p>
            <a:pPr lvl="1"/>
            <a:r>
              <a:rPr/>
              <a:t>added value of datafication: new answers, new questions</a:t>
            </a:r>
          </a:p>
          <a:p>
            <a:pPr lvl="1"/>
            <a:r>
              <a:rPr/>
              <a:t>algorithmicity: allows for frequent testing of hypotheses</a:t>
            </a:r>
          </a:p>
          <a:p>
            <a:pPr lvl="0"/>
            <a:r>
              <a:rPr/>
              <a:t>shifting knowledge orders</a:t>
            </a:r>
          </a:p>
          <a:p>
            <a:pPr lvl="1"/>
            <a:r>
              <a:rPr/>
              <a:t>knowledge as being formalised and embodied in algorithms, models, corpora</a:t>
            </a:r>
          </a:p>
          <a:p>
            <a:pPr lvl="1"/>
            <a:r>
              <a:rPr/>
              <a:t>changing forms of traceability and transparency, potential for replication</a:t>
            </a:r>
          </a:p>
          <a:p>
            <a:pPr lvl="0"/>
            <a:r>
              <a:rPr/>
              <a:t>shifting discipline?</a:t>
            </a:r>
          </a:p>
          <a:p>
            <a:pPr lvl="1"/>
            <a:r>
              <a:rPr/>
              <a:t>new modes of working: interdisciplinary collaboration</a:t>
            </a:r>
          </a:p>
          <a:p>
            <a:pPr lvl="1"/>
            <a:r>
              <a:rPr/>
              <a:t>new skills: require novel training and qualifications</a:t>
            </a:r>
          </a:p>
          <a:p>
            <a:pPr lvl="1"/>
            <a:r>
              <a:rPr/>
              <a:t>new forms of output: require novel indicators of reputation</a:t>
            </a:r>
          </a:p>
          <a:p>
            <a:pPr lvl="1"/>
            <a:r>
              <a:rPr/>
              <a:t>new hiring processes?</a:t>
            </a:r>
          </a:p>
        </p:txBody>
      </p:sp>
      <p:pic>
        <p:nvPicPr>
          <p:cNvPr descr="../../assets/datafication/hitler_pca-annotated.png" id="0" name="Picture 1"/>
          <p:cNvPicPr>
            <a:picLocks noGrp="1" noChangeAspect="1"/>
          </p:cNvPicPr>
          <p:nvPr/>
        </p:nvPicPr>
        <p:blipFill>
          <a:blip r:embed="rId3"/>
          <a:stretch>
            <a:fillRect/>
          </a:stretch>
        </p:blipFill>
        <p:spPr bwMode="auto">
          <a:xfrm>
            <a:off x="4648200" y="1651000"/>
            <a:ext cx="4038600" cy="3911600"/>
          </a:xfrm>
          <a:prstGeom prst="rect">
            <a:avLst/>
          </a:prstGeom>
          <a:noFill/>
          <a:ln w="9525">
            <a:noFill/>
            <a:headEnd/>
            <a:tailEnd/>
          </a:ln>
        </p:spPr>
      </p:pic>
      <p:sp>
        <p:nvSpPr>
          <p:cNvPr id="1" name="TextBox 3"/>
          <p:cNvSpPr txBox="1"/>
          <p:nvPr/>
        </p:nvSpPr>
        <p:spPr>
          <a:xfrm>
            <a:off x="4648200" y="5613400"/>
            <a:ext cx="4038600" cy="508000"/>
          </a:xfrm>
          <a:prstGeom prst="rect">
            <a:avLst/>
          </a:prstGeom>
          <a:noFill/>
        </p:spPr>
        <p:txBody>
          <a:bodyPr/>
          <a:lstStyle/>
          <a:p>
            <a:pPr lvl="0" indent="0" marL="0" algn="ctr">
              <a:buNone/>
            </a:pPr>
            <a:r>
              <a:rPr/>
              <a:t>PCA of MFF on our data set. Not how the text in question (</a:t>
            </a:r>
            <a:r>
              <a:rPr>
                <a:latin typeface="Courier"/>
              </a:rPr>
              <a:t>D</a:t>
            </a:r>
            <a:r>
              <a:rPr/>
              <a:t>) is savely within Koerber’s corner (</a:t>
            </a:r>
            <a:r>
              <a:rPr>
                <a:latin typeface="Courier"/>
              </a:rPr>
              <a:t>K</a:t>
            </a:r>
            <a:r>
              <a:rPr/>
              <a:t>).</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 you</a:t>
            </a:r>
          </a:p>
        </p:txBody>
      </p:sp>
      <p:sp>
        <p:nvSpPr>
          <p:cNvPr id="3" name="Content Placeholder 2"/>
          <p:cNvSpPr>
            <a:spLocks noGrp="1"/>
          </p:cNvSpPr>
          <p:nvPr>
            <p:ph idx="1"/>
          </p:nvPr>
        </p:nvSpPr>
        <p:spPr/>
        <p:txBody>
          <a:bodyPr/>
          <a:lstStyle/>
          <a:p>
            <a:pPr lvl="0" indent="0" marL="0">
              <a:buNone/>
            </a:pPr>
            <a:r>
              <a:rPr/>
              <a:t>This work was created as part of the NFDI consortium 4Memory (</a:t>
            </a:r>
            <a:r>
              <a:rPr>
                <a:hlinkClick r:id="rId2"/>
              </a:rPr>
              <a:t>www.4memory.de</a:t>
            </a:r>
            <a:r>
              <a:rPr/>
              <a:t>).</a:t>
            </a:r>
          </a:p>
          <a:p>
            <a:pPr lvl="0" indent="0" marL="0">
              <a:buNone/>
            </a:pPr>
            <a:r>
              <a:rPr/>
              <a:t>We gratefully acknowledge the financial support of the German Research Foundation (DFG) – project number 501609550.</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Bibliography</a:t>
            </a:r>
          </a:p>
        </p:txBody>
      </p:sp>
      <p:sp>
        <p:nvSpPr>
          <p:cNvPr id="3" name="Content Placeholder 2"/>
          <p:cNvSpPr>
            <a:spLocks noGrp="1"/>
          </p:cNvSpPr>
          <p:nvPr>
            <p:ph idx="1"/>
          </p:nvPr>
        </p:nvSpPr>
        <p:spPr/>
        <p:txBody>
          <a:bodyPr/>
          <a:lstStyle/>
          <a:p>
            <a:pPr lvl="0" indent="0" marL="0">
              <a:buNone/>
            </a:pPr>
            <a:r>
              <a:rPr/>
              <a:t>Arguing with Digital History working group. 2017. “Digital History and Argument.” White paper. </a:t>
            </a:r>
            <a:r>
              <a:rPr>
                <a:hlinkClick r:id="rId2"/>
              </a:rPr>
              <a:t>https://rrchnm.org/argument-white-paper/</a:t>
            </a:r>
            <a:r>
              <a:rPr/>
              <a:t>.</a:t>
            </a:r>
          </a:p>
          <a:p>
            <a:pPr lvl="0" indent="0" marL="0">
              <a:buNone/>
            </a:pPr>
            <a:r>
              <a:rPr/>
              <a:t>Berry, David M, and Anders Fagerjord. 2017. </a:t>
            </a:r>
            <a:r>
              <a:rPr i="1"/>
              <a:t>Digital Humanities: Knowledge and Critique in a Digital Age</a:t>
            </a:r>
            <a:r>
              <a:rPr/>
              <a:t>. Cambridge; Malden: Polity.</a:t>
            </a:r>
          </a:p>
          <a:p>
            <a:pPr lvl="0" indent="0" marL="0">
              <a:buNone/>
            </a:pPr>
            <a:r>
              <a:rPr/>
              <a:t>Borgman, Christine L. 2015. </a:t>
            </a:r>
            <a:r>
              <a:rPr i="1"/>
              <a:t>Big Data, Little Data, No Data: Scholarship in the Networked World</a:t>
            </a:r>
            <a:r>
              <a:rPr/>
              <a:t>. MIT Press.</a:t>
            </a:r>
          </a:p>
          <a:p>
            <a:pPr lvl="0" indent="0" marL="0">
              <a:buNone/>
            </a:pPr>
            <a:r>
              <a:rPr/>
              <a:t>Drucker, Johanna. 2021. </a:t>
            </a:r>
            <a:r>
              <a:rPr i="1"/>
              <a:t>The Digital Humanities Coursebook: An Introduction to Digital Methods for Research and Scholarship</a:t>
            </a:r>
            <a:r>
              <a:rPr/>
              <a:t>. 1st ed. Abingdon: Routledge. </a:t>
            </a:r>
            <a:r>
              <a:rPr>
                <a:hlinkClick r:id="rId3"/>
              </a:rPr>
              <a:t>https://doi.org/10.4324/9781003106531</a:t>
            </a:r>
            <a:r>
              <a:rPr/>
              <a:t>.</a:t>
            </a:r>
          </a:p>
          <a:p>
            <a:pPr lvl="0" indent="0" marL="0">
              <a:buNone/>
            </a:pPr>
            <a:r>
              <a:rPr/>
              <a:t>Gitelman, Lisa, ed. 2013. “Introduction.” In </a:t>
            </a:r>
            <a:r>
              <a:rPr i="1"/>
              <a:t>“Raw Data” Is an Oxymoron</a:t>
            </a:r>
            <a:r>
              <a:rPr/>
              <a:t>, 1–14. Cambridge: MIT Press.</a:t>
            </a:r>
          </a:p>
          <a:p>
            <a:pPr lvl="0" indent="0" marL="0">
              <a:buNone/>
            </a:pPr>
            <a:r>
              <a:rPr/>
              <a:t>Koerber, Adolf-Viktor von, ed. 1923. </a:t>
            </a:r>
            <a:r>
              <a:rPr i="1"/>
              <a:t>Adolf Hitler - Sein Leben und seine Reden</a:t>
            </a:r>
            <a:r>
              <a:rPr/>
              <a:t>. München: Deutscher Volksverlag. </a:t>
            </a:r>
            <a:r>
              <a:rPr>
                <a:hlinkClick r:id="rId4"/>
              </a:rPr>
              <a:t>http://archive.org/details/AHSeinLebenSeineReden</a:t>
            </a:r>
            <a:r>
              <a:rPr/>
              <a:t>.</a:t>
            </a:r>
          </a:p>
          <a:p>
            <a:pPr lvl="0" indent="0" marL="0">
              <a:buNone/>
            </a:pPr>
            <a:r>
              <a:rPr/>
              <a:t>Lässig, Simone. 2021. “Digital History: Challenges and Opportunities for the Profession.” </a:t>
            </a:r>
            <a:r>
              <a:rPr i="1"/>
              <a:t>Geschichte und Gesellschaft</a:t>
            </a:r>
            <a:r>
              <a:rPr/>
              <a:t> 47 (1): 5–34. </a:t>
            </a:r>
            <a:r>
              <a:rPr>
                <a:hlinkClick r:id="rId5"/>
              </a:rPr>
              <a:t>https://doi.org/gkhrjp</a:t>
            </a:r>
            <a:r>
              <a:rPr/>
              <a:t>.</a:t>
            </a:r>
          </a:p>
          <a:p>
            <a:pPr lvl="0" indent="0" marL="0">
              <a:buNone/>
            </a:pPr>
            <a:r>
              <a:rPr/>
              <a:t>Siles, Ignacio. 2023. </a:t>
            </a:r>
            <a:r>
              <a:rPr i="1"/>
              <a:t>Living with Algorithms: Agency and User Culture in Costa Rica</a:t>
            </a:r>
            <a:r>
              <a:rPr/>
              <a:t>. Boston: MIT Press.</a:t>
            </a:r>
          </a:p>
          <a:p>
            <a:pPr lvl="0" indent="0" marL="0">
              <a:buNone/>
            </a:pPr>
            <a:r>
              <a:rPr/>
              <a:t>Stachowiak, Herbert. 1973. </a:t>
            </a:r>
            <a:r>
              <a:rPr i="1"/>
              <a:t>Allgemeine Modelltheorie</a:t>
            </a:r>
            <a:r>
              <a:rPr/>
              <a:t>. Wien: Springer.</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Office PowerPoint</Application>
  <PresentationFormat>On-screen Show (4:3)</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Warum wir eine Datenkultur benötigen</dc:title>
  <dc:creator>Till Grallert</dc:creator>
  <cp:keywords/>
  <dcterms:created xsi:type="dcterms:W3CDTF">2025-05-27T12:13:44Z</dcterms:created>
  <dcterms:modified xsi:type="dcterms:W3CDTF">2025-05-27T12:13:44Z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oEqnLabels">
    <vt:lpwstr>False</vt:lpwstr>
  </property>
  <property fmtid="{D5CDD505-2E9C-101B-9397-08002B2CF9AE}" pid="3" name="autoSectionLabels">
    <vt:lpwstr>False</vt:lpwstr>
  </property>
  <property fmtid="{D5CDD505-2E9C-101B-9397-08002B2CF9AE}" pid="4" name="background-image">
    <vt:lpwstr>../../assets/datafication/datafication_digital-history.png</vt:lpwstr>
  </property>
  <property fmtid="{D5CDD505-2E9C-101B-9397-08002B2CF9AE}" pid="5" name="bibliography">
    <vt:lpwstr/>
  </property>
  <property fmtid="{D5CDD505-2E9C-101B-9397-08002B2CF9AE}" pid="6" name="ccsDelim">
    <vt:lpwstr>, </vt:lpwstr>
  </property>
  <property fmtid="{D5CDD505-2E9C-101B-9397-08002B2CF9AE}" pid="7" name="ccsLabelSep">
    <vt:lpwstr> — </vt:lpwstr>
  </property>
  <property fmtid="{D5CDD505-2E9C-101B-9397-08002B2CF9AE}" pid="8" name="ccsTemplate">
    <vt:lpwstr>iccsLabelSept</vt:lpwstr>
  </property>
  <property fmtid="{D5CDD505-2E9C-101B-9397-08002B2CF9AE}" pid="9" name="chapDelim">
    <vt:lpwstr>.</vt:lpwstr>
  </property>
  <property fmtid="{D5CDD505-2E9C-101B-9397-08002B2CF9AE}" pid="10" name="chapters">
    <vt:lpwstr>False</vt:lpwstr>
  </property>
  <property fmtid="{D5CDD505-2E9C-101B-9397-08002B2CF9AE}" pid="11" name="chaptersDepth">
    <vt:lpwstr>1</vt:lpwstr>
  </property>
  <property fmtid="{D5CDD505-2E9C-101B-9397-08002B2CF9AE}" pid="12" name="codeBlockCaptions">
    <vt:lpwstr>False</vt:lpwstr>
  </property>
  <property fmtid="{D5CDD505-2E9C-101B-9397-08002B2CF9AE}" pid="13" name="cref">
    <vt:lpwstr>False</vt:lpwstr>
  </property>
  <property fmtid="{D5CDD505-2E9C-101B-9397-08002B2CF9AE}" pid="14" name="crossrefYaml">
    <vt:lpwstr>pandoc-crossref.yaml</vt:lpwstr>
  </property>
  <property fmtid="{D5CDD505-2E9C-101B-9397-08002B2CF9AE}" pid="15" name="csl">
    <vt:lpwstr>/Users/Shared/BachUni/BachBibliothek/GitHub/pandoc/csl/chicago-author-date.csl</vt:lpwstr>
  </property>
  <property fmtid="{D5CDD505-2E9C-101B-9397-08002B2CF9AE}" pid="16" name="date">
    <vt:lpwstr>2025-05-28</vt:lpwstr>
  </property>
  <property fmtid="{D5CDD505-2E9C-101B-9397-08002B2CF9AE}" pid="17" name="eqLabels">
    <vt:lpwstr>arabic</vt:lpwstr>
  </property>
  <property fmtid="{D5CDD505-2E9C-101B-9397-08002B2CF9AE}" pid="18" name="eqnBlockInlineMath">
    <vt:lpwstr>False</vt:lpwstr>
  </property>
  <property fmtid="{D5CDD505-2E9C-101B-9397-08002B2CF9AE}" pid="19" name="eqnBlockTemplate">
    <vt:lpwstr>ti</vt:lpwstr>
  </property>
  <property fmtid="{D5CDD505-2E9C-101B-9397-08002B2CF9AE}" pid="20" name="eqnIndexTemplate">
    <vt:lpwstr>(i)</vt:lpwstr>
  </property>
  <property fmtid="{D5CDD505-2E9C-101B-9397-08002B2CF9AE}" pid="21" name="eqnInlineTemplate">
    <vt:lpwstr>eequationNumberTeX{i}</vt:lpwstr>
  </property>
  <property fmtid="{D5CDD505-2E9C-101B-9397-08002B2CF9AE}" pid="22" name="eqnPrefix">
    <vt:lpwstr/>
  </property>
  <property fmtid="{D5CDD505-2E9C-101B-9397-08002B2CF9AE}" pid="23" name="eqnPrefixTemplate">
    <vt:lpwstr>p i</vt:lpwstr>
  </property>
  <property fmtid="{D5CDD505-2E9C-101B-9397-08002B2CF9AE}" pid="24" name="equationNumberTeX">
    <vt:lpwstr>\qquad</vt:lpwstr>
  </property>
  <property fmtid="{D5CDD505-2E9C-101B-9397-08002B2CF9AE}" pid="25" name="event">
    <vt:lpwstr/>
  </property>
  <property fmtid="{D5CDD505-2E9C-101B-9397-08002B2CF9AE}" pid="26" name="figLabels">
    <vt:lpwstr>arabic</vt:lpwstr>
  </property>
  <property fmtid="{D5CDD505-2E9C-101B-9397-08002B2CF9AE}" pid="27" name="figPrefix">
    <vt:lpwstr/>
  </property>
  <property fmtid="{D5CDD505-2E9C-101B-9397-08002B2CF9AE}" pid="28" name="figPrefixTemplate">
    <vt:lpwstr>p i</vt:lpwstr>
  </property>
  <property fmtid="{D5CDD505-2E9C-101B-9397-08002B2CF9AE}" pid="29" name="figureTemplate">
    <vt:lpwstr>figureTitle ititleDelim t</vt:lpwstr>
  </property>
  <property fmtid="{D5CDD505-2E9C-101B-9397-08002B2CF9AE}" pid="30" name="figureTitle">
    <vt:lpwstr>Figure</vt:lpwstr>
  </property>
  <property fmtid="{D5CDD505-2E9C-101B-9397-08002B2CF9AE}" pid="31" name="homepage">
    <vt:lpwstr/>
  </property>
  <property fmtid="{D5CDD505-2E9C-101B-9397-08002B2CF9AE}" pid="32" name="institute">
    <vt:lpwstr/>
  </property>
  <property fmtid="{D5CDD505-2E9C-101B-9397-08002B2CF9AE}" pid="33" name="lastDelim">
    <vt:lpwstr>, </vt:lpwstr>
  </property>
  <property fmtid="{D5CDD505-2E9C-101B-9397-08002B2CF9AE}" pid="34" name="license">
    <vt:lpwstr>https://creativecommons.org/licenses/by-sa/4.0/</vt:lpwstr>
  </property>
  <property fmtid="{D5CDD505-2E9C-101B-9397-08002B2CF9AE}" pid="35" name="link-citations">
    <vt:lpwstr>False</vt:lpwstr>
  </property>
  <property fmtid="{D5CDD505-2E9C-101B-9397-08002B2CF9AE}" pid="36" name="linkReferences">
    <vt:lpwstr>False</vt:lpwstr>
  </property>
  <property fmtid="{D5CDD505-2E9C-101B-9397-08002B2CF9AE}" pid="37" name="listItemTitleDelim">
    <vt:lpwstr>.</vt:lpwstr>
  </property>
  <property fmtid="{D5CDD505-2E9C-101B-9397-08002B2CF9AE}" pid="38" name="listingTemplate">
    <vt:lpwstr>listingTitle ititleDelim t</vt:lpwstr>
  </property>
  <property fmtid="{D5CDD505-2E9C-101B-9397-08002B2CF9AE}" pid="39" name="listingTitle">
    <vt:lpwstr>Listing</vt:lpwstr>
  </property>
  <property fmtid="{D5CDD505-2E9C-101B-9397-08002B2CF9AE}" pid="40" name="listings">
    <vt:lpwstr>False</vt:lpwstr>
  </property>
  <property fmtid="{D5CDD505-2E9C-101B-9397-08002B2CF9AE}" pid="41" name="lofItemTemplate">
    <vt:lpwstr>lofItemTitleilistItemTitleDelim t </vt:lpwstr>
  </property>
  <property fmtid="{D5CDD505-2E9C-101B-9397-08002B2CF9AE}" pid="42" name="lofItemTitle">
    <vt:lpwstr/>
  </property>
  <property fmtid="{D5CDD505-2E9C-101B-9397-08002B2CF9AE}" pid="43" name="lofTitle">
    <vt:lpwstr>List of Figures</vt:lpwstr>
  </property>
  <property fmtid="{D5CDD505-2E9C-101B-9397-08002B2CF9AE}" pid="44" name="lolItemTemplate">
    <vt:lpwstr>lolItemTitleilistItemTitleDelim t </vt:lpwstr>
  </property>
  <property fmtid="{D5CDD505-2E9C-101B-9397-08002B2CF9AE}" pid="45" name="lolItemTitle">
    <vt:lpwstr/>
  </property>
  <property fmtid="{D5CDD505-2E9C-101B-9397-08002B2CF9AE}" pid="46" name="lolTitle">
    <vt:lpwstr>List of Listings</vt:lpwstr>
  </property>
  <property fmtid="{D5CDD505-2E9C-101B-9397-08002B2CF9AE}" pid="47" name="lotItemTemplate">
    <vt:lpwstr>lotItemTitleilistItemTitleDelim t </vt:lpwstr>
  </property>
  <property fmtid="{D5CDD505-2E9C-101B-9397-08002B2CF9AE}" pid="48" name="lotItemTitle">
    <vt:lpwstr/>
  </property>
  <property fmtid="{D5CDD505-2E9C-101B-9397-08002B2CF9AE}" pid="49" name="lotTitle">
    <vt:lpwstr>List of Tables</vt:lpwstr>
  </property>
  <property fmtid="{D5CDD505-2E9C-101B-9397-08002B2CF9AE}" pid="50" name="lstLabels">
    <vt:lpwstr>arabic</vt:lpwstr>
  </property>
  <property fmtid="{D5CDD505-2E9C-101B-9397-08002B2CF9AE}" pid="51" name="lstPrefix">
    <vt:lpwstr/>
  </property>
  <property fmtid="{D5CDD505-2E9C-101B-9397-08002B2CF9AE}" pid="52" name="lstPrefixTemplate">
    <vt:lpwstr>p i</vt:lpwstr>
  </property>
  <property fmtid="{D5CDD505-2E9C-101B-9397-08002B2CF9AE}" pid="53" name="markdown">
    <vt:lpwstr>pandoc</vt:lpwstr>
  </property>
  <property fmtid="{D5CDD505-2E9C-101B-9397-08002B2CF9AE}" pid="54" name="nameInLink">
    <vt:lpwstr>False</vt:lpwstr>
  </property>
  <property fmtid="{D5CDD505-2E9C-101B-9397-08002B2CF9AE}" pid="55" name="nocite">
    <vt:lpwstr>@Hiltmann2022Methodenwandel; @RisamGil2022Introduction</vt:lpwstr>
  </property>
  <property fmtid="{D5CDD505-2E9C-101B-9397-08002B2CF9AE}" pid="56" name="numberSections">
    <vt:lpwstr>False</vt:lpwstr>
  </property>
  <property fmtid="{D5CDD505-2E9C-101B-9397-08002B2CF9AE}" pid="57" name="pairDelim">
    <vt:lpwstr>, </vt:lpwstr>
  </property>
  <property fmtid="{D5CDD505-2E9C-101B-9397-08002B2CF9AE}" pid="58" name="rangeDelim">
    <vt:lpwstr>-</vt:lpwstr>
  </property>
  <property fmtid="{D5CDD505-2E9C-101B-9397-08002B2CF9AE}" pid="59" name="refDelim">
    <vt:lpwstr>, </vt:lpwstr>
  </property>
  <property fmtid="{D5CDD505-2E9C-101B-9397-08002B2CF9AE}" pid="60" name="refIndexTemplate">
    <vt:lpwstr>isuf</vt:lpwstr>
  </property>
  <property fmtid="{D5CDD505-2E9C-101B-9397-08002B2CF9AE}" pid="61" name="revealjs-url">
    <vt:lpwstr>../../assets/revealjs</vt:lpwstr>
  </property>
  <property fmtid="{D5CDD505-2E9C-101B-9397-08002B2CF9AE}" pid="62" name="secHeaderDelim">
    <vt:lpwstr> </vt:lpwstr>
  </property>
  <property fmtid="{D5CDD505-2E9C-101B-9397-08002B2CF9AE}" pid="63" name="secHeaderTemplate">
    <vt:lpwstr>isecHeaderDelim[n]t</vt:lpwstr>
  </property>
  <property fmtid="{D5CDD505-2E9C-101B-9397-08002B2CF9AE}" pid="64" name="secLabels">
    <vt:lpwstr>arabic</vt:lpwstr>
  </property>
  <property fmtid="{D5CDD505-2E9C-101B-9397-08002B2CF9AE}" pid="65" name="secPrefix">
    <vt:lpwstr/>
  </property>
  <property fmtid="{D5CDD505-2E9C-101B-9397-08002B2CF9AE}" pid="66" name="secPrefixTemplate">
    <vt:lpwstr>p i</vt:lpwstr>
  </property>
  <property fmtid="{D5CDD505-2E9C-101B-9397-08002B2CF9AE}" pid="67" name="sectionsDepth">
    <vt:lpwstr>0</vt:lpwstr>
  </property>
  <property fmtid="{D5CDD505-2E9C-101B-9397-08002B2CF9AE}" pid="68" name="slide-level">
    <vt:lpwstr>2</vt:lpwstr>
  </property>
  <property fmtid="{D5CDD505-2E9C-101B-9397-08002B2CF9AE}" pid="69" name="status">
    <vt:lpwstr>published</vt:lpwstr>
  </property>
  <property fmtid="{D5CDD505-2E9C-101B-9397-08002B2CF9AE}" pid="70" name="subfigGrid">
    <vt:lpwstr>False</vt:lpwstr>
  </property>
  <property fmtid="{D5CDD505-2E9C-101B-9397-08002B2CF9AE}" pid="71" name="subfigLabels">
    <vt:lpwstr>alpha a</vt:lpwstr>
  </property>
  <property fmtid="{D5CDD505-2E9C-101B-9397-08002B2CF9AE}" pid="72" name="subfigureChildTemplate">
    <vt:lpwstr>i</vt:lpwstr>
  </property>
  <property fmtid="{D5CDD505-2E9C-101B-9397-08002B2CF9AE}" pid="73" name="subfigureRefIndexTemplate">
    <vt:lpwstr>isuf (s)</vt:lpwstr>
  </property>
  <property fmtid="{D5CDD505-2E9C-101B-9397-08002B2CF9AE}" pid="74" name="subfigureTemplate">
    <vt:lpwstr>figureTitle ititleDelim t. ccs</vt:lpwstr>
  </property>
  <property fmtid="{D5CDD505-2E9C-101B-9397-08002B2CF9AE}" pid="75" name="subtitle">
    <vt:lpwstr/>
  </property>
  <property fmtid="{D5CDD505-2E9C-101B-9397-08002B2CF9AE}" pid="76" name="tableEqns">
    <vt:lpwstr>False</vt:lpwstr>
  </property>
  <property fmtid="{D5CDD505-2E9C-101B-9397-08002B2CF9AE}" pid="77" name="tableTemplate">
    <vt:lpwstr>tableTitle ititleDelim t</vt:lpwstr>
  </property>
  <property fmtid="{D5CDD505-2E9C-101B-9397-08002B2CF9AE}" pid="78" name="tableTitle">
    <vt:lpwstr>Table</vt:lpwstr>
  </property>
  <property fmtid="{D5CDD505-2E9C-101B-9397-08002B2CF9AE}" pid="79" name="tags">
    <vt:lpwstr/>
  </property>
  <property fmtid="{D5CDD505-2E9C-101B-9397-08002B2CF9AE}" pid="80" name="tblLabels">
    <vt:lpwstr>arabic</vt:lpwstr>
  </property>
  <property fmtid="{D5CDD505-2E9C-101B-9397-08002B2CF9AE}" pid="81" name="tblPrefix">
    <vt:lpwstr/>
  </property>
  <property fmtid="{D5CDD505-2E9C-101B-9397-08002B2CF9AE}" pid="82" name="tblPrefixTemplate">
    <vt:lpwstr>p i</vt:lpwstr>
  </property>
  <property fmtid="{D5CDD505-2E9C-101B-9397-08002B2CF9AE}" pid="83" name="titleDelim">
    <vt:lpwstr>:</vt:lpwstr>
  </property>
  <property fmtid="{D5CDD505-2E9C-101B-9397-08002B2CF9AE}" pid="84" name="url">
    <vt:lpwstr>https://tillgrallert.github.io/slides/dh/2025-cmb/</vt:lpwstr>
  </property>
</Properties>
</file>